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Team-8 presenting AIPage — AI-Assisted Page Prediction and Virtual Memory Management. This section covers Review-2: the literature review and the research gap. Ten verified papers, every one with a DOI or official publisher link on the final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papers form one line of development, not ten separate results. Traditional policies define the bound and the baselines. Reuse-aware work makes reuse distance the signal. Predictive work estimates it and evicts on it. Learning-based work replaces hand-designed estimators with trained models. Kleio finally brings this to OS page granularity. One honest caveat on the right: six of the ten are cache-scoped,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two columns together — that is the argument. Belady gives the bound but cannot run. ARC is cheap and adaptive but cannot tell two similar pages apart. LIRS makes reuse distance the ranking signal — the direct ancestor of two of our seven features. Ding and Zhong prove reuse distance is predictable, at around ninety-four percent, but offline. Keramidas is the turning point: reuse is predicted and the prediction chooses the victim. It is a cache paper and we mark it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Hawkeye's contribution is the supervision trick: replay Belady over history and learn from it. Hashemi shows memory behaviour is learnable, but for prefetching and at a cost nobody can pay in the hot path. Glider is the paper that shaped our design most — use deep learning to find out what matters, then ship something cheap. That is exactly our methodology. PARROT shows the ceiling and also why we cannot go there in user space. Kleio is closest to us: real OS pages, bounded ML cost. But it places pages across tiers; it does not choose a victim under pressure. That distinction is our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by column, not by row. Column four asks whether the method predicts future reuse. Column five asks whether that prediction actually removes a page. Four papers answer yes to both, and all four are hardware caches. The one page-level learner predicts but places. That intersection — predictive, page-granularity, eviction under pressure — is empty in this set. That is the opening AIPage occupies.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unsafe version of this claim is easy to refute, so we state the gap as a conjunction. Predictive and learned replacement is overwhelmingly cache-scoped. The page-level learner targets placement. The policies that do evict pages use one or two hand-picked signals. The bottom-left box lists what we explicitly do not claim, so there is no ambiguity. On the right, each of our four design choices is traceable to a specific limitation in the review — not to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in IEEE style, numbered to match the literature tables. Every title, author list, year, venue, page range and DOI was checked against the publisher record — ACM Digital Library, IEEE Xplore, USENIX and PMLR. Each link is live in the slide, so any paper can be opened on the spot if the panel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147/sj.52.0078" TargetMode="External"/><Relationship Id="rId2" Type="http://schemas.openxmlformats.org/officeDocument/2006/relationships/hyperlink" Target="https://www.usenix.org/legacy/event/fast03/tech/megiddo.html" TargetMode="External"/><Relationship Id="rId3" Type="http://schemas.openxmlformats.org/officeDocument/2006/relationships/hyperlink" Target="https://doi.org/10.1145/511334.511340" TargetMode="External"/><Relationship Id="rId4" Type="http://schemas.openxmlformats.org/officeDocument/2006/relationships/hyperlink" Target="https://doi.org/10.1145/781131.781159" TargetMode="External"/><Relationship Id="rId5" Type="http://schemas.openxmlformats.org/officeDocument/2006/relationships/hyperlink" Target="https://doi.org/10.1109/ICCD.2007.4601909" TargetMode="External"/><Relationship Id="rId6" Type="http://schemas.openxmlformats.org/officeDocument/2006/relationships/hyperlink" Target="https://doi.org/10.1109/ISCA.2016.17" TargetMode="External"/><Relationship Id="rId7" Type="http://schemas.openxmlformats.org/officeDocument/2006/relationships/hyperlink" Target="https://proceedings.mlr.press/v80/hashemi18a.html" TargetMode="External"/><Relationship Id="rId8" Type="http://schemas.openxmlformats.org/officeDocument/2006/relationships/hyperlink" Target="https://doi.org/10.1145/3352460.3358319" TargetMode="External"/><Relationship Id="rId9" Type="http://schemas.openxmlformats.org/officeDocument/2006/relationships/hyperlink" Target="https://proceedings.mlr.press/v119/liu20f.html" TargetMode="External"/><Relationship Id="rId10" Type="http://schemas.openxmlformats.org/officeDocument/2006/relationships/hyperlink" Target="https://doi.org/10.1145/3307681.3325398" TargetMode="External"/><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6E8299"/>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6E8299"/>
                </a:solidFill>
                <a:latin typeface="Cambria" pitchFamily="34" charset="0"/>
                <a:ea typeface="Cambria" pitchFamily="34" charset="-122"/>
                <a:cs typeface="Cambria" pitchFamily="34" charset="-120"/>
              </a:rPr>
              <a:t>01 / 07</a:t>
            </a:r>
            <a:endParaRPr lang="en-US" sz="900" dirty="0"/>
          </a:p>
        </p:txBody>
      </p:sp>
      <p:sp>
        <p:nvSpPr>
          <p:cNvPr id="4" name="Shape 2"/>
          <p:cNvSpPr/>
          <p:nvPr/>
        </p:nvSpPr>
        <p:spPr>
          <a:xfrm>
            <a:off x="9692640" y="-1737360"/>
            <a:ext cx="4937760" cy="4937760"/>
          </a:xfrm>
          <a:prstGeom prst="ellipse">
            <a:avLst/>
          </a:prstGeom>
          <a:solidFill>
            <a:srgbClr val="16395A"/>
          </a:solidFill>
          <a:ln/>
        </p:spPr>
      </p:sp>
      <p:sp>
        <p:nvSpPr>
          <p:cNvPr id="5" name="Shape 3"/>
          <p:cNvSpPr/>
          <p:nvPr/>
        </p:nvSpPr>
        <p:spPr>
          <a:xfrm>
            <a:off x="-1554480" y="4892040"/>
            <a:ext cx="3017520" cy="3017520"/>
          </a:xfrm>
          <a:prstGeom prst="ellipse">
            <a:avLst/>
          </a:prstGeom>
          <a:solidFill>
            <a:srgbClr val="1C2B4E"/>
          </a:solidFill>
          <a:ln/>
        </p:spPr>
      </p:sp>
      <p:sp>
        <p:nvSpPr>
          <p:cNvPr id="6" name="Text 4"/>
          <p:cNvSpPr txBox="1"/>
          <p:nvPr/>
        </p:nvSpPr>
        <p:spPr>
          <a:xfrm>
            <a:off x="822960" y="1024128"/>
            <a:ext cx="7315200" cy="256032"/>
          </a:xfrm>
          <a:prstGeom prst="rect">
            <a:avLst/>
          </a:prstGeom>
          <a:noFill/>
          <a:ln/>
        </p:spPr>
        <p:txBody>
          <a:bodyPr wrap="square" lIns="0" tIns="0" rIns="0" bIns="0" rtlCol="0" anchor="ctr"/>
          <a:lstStyle/>
          <a:p>
            <a:pPr indent="0" marL="0">
              <a:buNone/>
            </a:pPr>
            <a:r>
              <a:rPr lang="en-US" sz="1100" b="1" spc="240" kern="0" dirty="0">
                <a:solidFill>
                  <a:srgbClr val="5FA8C7"/>
                </a:solidFill>
                <a:latin typeface="Cambria" pitchFamily="34" charset="0"/>
                <a:ea typeface="Cambria" pitchFamily="34" charset="-122"/>
                <a:cs typeface="Cambria" pitchFamily="34" charset="-120"/>
              </a:rPr>
              <a:t>OSSP FINAL PROJECT REVIEW   •   TEAM-8</a:t>
            </a:r>
            <a:endParaRPr lang="en-US" sz="1100" dirty="0"/>
          </a:p>
        </p:txBody>
      </p:sp>
      <p:sp>
        <p:nvSpPr>
          <p:cNvPr id="7" name="Text 5"/>
          <p:cNvSpPr txBox="1"/>
          <p:nvPr/>
        </p:nvSpPr>
        <p:spPr>
          <a:xfrm>
            <a:off x="804672" y="1389888"/>
            <a:ext cx="7315200" cy="914400"/>
          </a:xfrm>
          <a:prstGeom prst="rect">
            <a:avLst/>
          </a:prstGeom>
          <a:noFill/>
          <a:ln/>
        </p:spPr>
        <p:txBody>
          <a:bodyPr wrap="square" lIns="0" tIns="0" rIns="0" bIns="0" rtlCol="0" anchor="ctr"/>
          <a:lstStyle/>
          <a:p>
            <a:pPr indent="0" marL="0">
              <a:buNone/>
            </a:pPr>
            <a:r>
              <a:rPr lang="en-US" sz="5200" dirty="0">
                <a:solidFill>
                  <a:srgbClr val="FFFFFF"/>
                </a:solidFill>
                <a:latin typeface="Cambria" pitchFamily="34" charset="0"/>
                <a:ea typeface="Cambria" pitchFamily="34" charset="-122"/>
                <a:cs typeface="Cambria" pitchFamily="34" charset="-120"/>
              </a:rPr>
              <a:t>AIPage</a:t>
            </a:r>
            <a:endParaRPr lang="en-US" sz="5200" dirty="0"/>
          </a:p>
        </p:txBody>
      </p:sp>
      <p:sp>
        <p:nvSpPr>
          <p:cNvPr id="8" name="Text 6"/>
          <p:cNvSpPr txBox="1"/>
          <p:nvPr/>
        </p:nvSpPr>
        <p:spPr>
          <a:xfrm>
            <a:off x="822960" y="2395728"/>
            <a:ext cx="8686800" cy="347472"/>
          </a:xfrm>
          <a:prstGeom prst="rect">
            <a:avLst/>
          </a:prstGeom>
          <a:noFill/>
          <a:ln/>
        </p:spPr>
        <p:txBody>
          <a:bodyPr wrap="square" lIns="0" tIns="0" rIns="0" bIns="0" rtlCol="0" anchor="ctr"/>
          <a:lstStyle/>
          <a:p>
            <a:pPr indent="0" marL="0">
              <a:buNone/>
            </a:pPr>
            <a:r>
              <a:rPr lang="en-US" sz="1700" dirty="0">
                <a:solidFill>
                  <a:srgbClr val="D5DEE7"/>
                </a:solidFill>
                <a:latin typeface="Cambria" pitchFamily="34" charset="0"/>
                <a:ea typeface="Cambria" pitchFamily="34" charset="-122"/>
                <a:cs typeface="Cambria" pitchFamily="34" charset="-120"/>
              </a:rPr>
              <a:t>AI-Assisted Page Prediction and Virtual Memory Management</a:t>
            </a:r>
            <a:endParaRPr lang="en-US" sz="1700" dirty="0"/>
          </a:p>
        </p:txBody>
      </p:sp>
      <p:sp>
        <p:nvSpPr>
          <p:cNvPr id="9" name="Shape 7"/>
          <p:cNvSpPr/>
          <p:nvPr/>
        </p:nvSpPr>
        <p:spPr>
          <a:xfrm>
            <a:off x="822960" y="2944368"/>
            <a:ext cx="2743200" cy="0"/>
          </a:xfrm>
          <a:prstGeom prst="line">
            <a:avLst/>
          </a:prstGeom>
          <a:noFill/>
          <a:ln w="25400">
            <a:solidFill>
              <a:srgbClr val="1C7293"/>
            </a:solidFill>
            <a:prstDash val="solid"/>
          </a:ln>
        </p:spPr>
      </p:sp>
      <p:sp>
        <p:nvSpPr>
          <p:cNvPr id="10" name="Shape 8"/>
          <p:cNvSpPr/>
          <p:nvPr/>
        </p:nvSpPr>
        <p:spPr>
          <a:xfrm>
            <a:off x="822960" y="3310128"/>
            <a:ext cx="5852160" cy="1920240"/>
          </a:xfrm>
          <a:prstGeom prst="roundRect">
            <a:avLst>
              <a:gd name="adj" fmla="val 1905"/>
            </a:avLst>
          </a:prstGeom>
          <a:solidFill>
            <a:srgbClr val="16395A"/>
          </a:solidFill>
          <a:ln w="12700">
            <a:solidFill>
              <a:srgbClr val="2B5273"/>
            </a:solidFill>
            <a:prstDash val="solid"/>
          </a:ln>
        </p:spPr>
      </p:sp>
      <p:sp>
        <p:nvSpPr>
          <p:cNvPr id="11" name="Text 9"/>
          <p:cNvSpPr txBox="1"/>
          <p:nvPr/>
        </p:nvSpPr>
        <p:spPr>
          <a:xfrm>
            <a:off x="1078992" y="3511296"/>
            <a:ext cx="2743200" cy="219456"/>
          </a:xfrm>
          <a:prstGeom prst="rect">
            <a:avLst/>
          </a:prstGeom>
          <a:noFill/>
          <a:ln/>
        </p:spPr>
        <p:txBody>
          <a:bodyPr wrap="square" lIns="0" tIns="0" rIns="0" bIns="0" rtlCol="0" anchor="ctr"/>
          <a:lstStyle/>
          <a:p>
            <a:pPr indent="0" marL="0">
              <a:buNone/>
            </a:pPr>
            <a:r>
              <a:rPr lang="en-US" sz="1050" b="1" spc="200" kern="0" dirty="0">
                <a:solidFill>
                  <a:srgbClr val="5FA8C7"/>
                </a:solidFill>
                <a:latin typeface="Cambria" pitchFamily="34" charset="0"/>
                <a:ea typeface="Cambria" pitchFamily="34" charset="-122"/>
                <a:cs typeface="Cambria" pitchFamily="34" charset="-120"/>
              </a:rPr>
              <a:t>TEAM-8</a:t>
            </a:r>
            <a:endParaRPr lang="en-US" sz="1050" dirty="0"/>
          </a:p>
        </p:txBody>
      </p:sp>
      <p:sp>
        <p:nvSpPr>
          <p:cNvPr id="12" name="Text 10"/>
          <p:cNvSpPr txBox="1"/>
          <p:nvPr/>
        </p:nvSpPr>
        <p:spPr>
          <a:xfrm>
            <a:off x="1078992" y="3895344"/>
            <a:ext cx="2651760" cy="237744"/>
          </a:xfrm>
          <a:prstGeom prst="rect">
            <a:avLst/>
          </a:prstGeom>
          <a:noFill/>
          <a:ln/>
        </p:spPr>
        <p:txBody>
          <a:bodyPr wrap="square" lIns="0" tIns="0" rIns="0" bIns="0" rtlCol="0" anchor="ctr"/>
          <a:lstStyle/>
          <a:p>
            <a:pPr indent="0" marL="0">
              <a:buNone/>
            </a:pPr>
            <a:r>
              <a:rPr lang="en-US" sz="1200" dirty="0">
                <a:solidFill>
                  <a:srgbClr val="FFFFFF"/>
                </a:solidFill>
                <a:latin typeface="Cambria" pitchFamily="34" charset="0"/>
                <a:ea typeface="Cambria" pitchFamily="34" charset="-122"/>
                <a:cs typeface="Cambria" pitchFamily="34" charset="-120"/>
              </a:rPr>
              <a:t>Shrenika Reddy</a:t>
            </a:r>
            <a:endParaRPr lang="en-US" sz="1200" dirty="0"/>
          </a:p>
        </p:txBody>
      </p:sp>
      <p:sp>
        <p:nvSpPr>
          <p:cNvPr id="13" name="Text 11"/>
          <p:cNvSpPr txBox="1"/>
          <p:nvPr/>
        </p:nvSpPr>
        <p:spPr>
          <a:xfrm>
            <a:off x="1078992" y="4133088"/>
            <a:ext cx="2651760" cy="219456"/>
          </a:xfrm>
          <a:prstGeom prst="rect">
            <a:avLst/>
          </a:prstGeom>
          <a:noFill/>
          <a:ln/>
        </p:spPr>
        <p:txBody>
          <a:bodyPr wrap="square" lIns="0" tIns="0" rIns="0" bIns="0" rtlCol="0" anchor="ctr"/>
          <a:lstStyle/>
          <a:p>
            <a:pPr indent="0" marL="0">
              <a:buNone/>
            </a:pPr>
            <a:r>
              <a:rPr lang="en-US" sz="1050" dirty="0">
                <a:solidFill>
                  <a:srgbClr val="8FA6B9"/>
                </a:solidFill>
                <a:latin typeface="Cambria" pitchFamily="34" charset="0"/>
                <a:ea typeface="Cambria" pitchFamily="34" charset="-122"/>
                <a:cs typeface="Cambria" pitchFamily="34" charset="-120"/>
              </a:rPr>
              <a:t>2510030022</a:t>
            </a:r>
            <a:endParaRPr lang="en-US" sz="1050" dirty="0"/>
          </a:p>
        </p:txBody>
      </p:sp>
      <p:sp>
        <p:nvSpPr>
          <p:cNvPr id="14" name="Text 12"/>
          <p:cNvSpPr txBox="1"/>
          <p:nvPr/>
        </p:nvSpPr>
        <p:spPr>
          <a:xfrm>
            <a:off x="3822192" y="3895344"/>
            <a:ext cx="2651760" cy="237744"/>
          </a:xfrm>
          <a:prstGeom prst="rect">
            <a:avLst/>
          </a:prstGeom>
          <a:noFill/>
          <a:ln/>
        </p:spPr>
        <p:txBody>
          <a:bodyPr wrap="square" lIns="0" tIns="0" rIns="0" bIns="0" rtlCol="0" anchor="ctr"/>
          <a:lstStyle/>
          <a:p>
            <a:pPr indent="0" marL="0">
              <a:buNone/>
            </a:pPr>
            <a:r>
              <a:rPr lang="en-US" sz="1200" dirty="0">
                <a:solidFill>
                  <a:srgbClr val="FFFFFF"/>
                </a:solidFill>
                <a:latin typeface="Cambria" pitchFamily="34" charset="0"/>
                <a:ea typeface="Cambria" pitchFamily="34" charset="-122"/>
                <a:cs typeface="Cambria" pitchFamily="34" charset="-120"/>
              </a:rPr>
              <a:t>Aswani Gayatri</a:t>
            </a:r>
            <a:endParaRPr lang="en-US" sz="1200" dirty="0"/>
          </a:p>
        </p:txBody>
      </p:sp>
      <p:sp>
        <p:nvSpPr>
          <p:cNvPr id="15" name="Text 13"/>
          <p:cNvSpPr txBox="1"/>
          <p:nvPr/>
        </p:nvSpPr>
        <p:spPr>
          <a:xfrm>
            <a:off x="3822192" y="4133088"/>
            <a:ext cx="2651760" cy="219456"/>
          </a:xfrm>
          <a:prstGeom prst="rect">
            <a:avLst/>
          </a:prstGeom>
          <a:noFill/>
          <a:ln/>
        </p:spPr>
        <p:txBody>
          <a:bodyPr wrap="square" lIns="0" tIns="0" rIns="0" bIns="0" rtlCol="0" anchor="ctr"/>
          <a:lstStyle/>
          <a:p>
            <a:pPr indent="0" marL="0">
              <a:buNone/>
            </a:pPr>
            <a:r>
              <a:rPr lang="en-US" sz="1050" dirty="0">
                <a:solidFill>
                  <a:srgbClr val="8FA6B9"/>
                </a:solidFill>
                <a:latin typeface="Cambria" pitchFamily="34" charset="0"/>
                <a:ea typeface="Cambria" pitchFamily="34" charset="-122"/>
                <a:cs typeface="Cambria" pitchFamily="34" charset="-120"/>
              </a:rPr>
              <a:t>2510030421</a:t>
            </a:r>
            <a:endParaRPr lang="en-US" sz="1050" dirty="0"/>
          </a:p>
        </p:txBody>
      </p:sp>
      <p:sp>
        <p:nvSpPr>
          <p:cNvPr id="16" name="Text 14"/>
          <p:cNvSpPr txBox="1"/>
          <p:nvPr/>
        </p:nvSpPr>
        <p:spPr>
          <a:xfrm>
            <a:off x="1078992" y="4462272"/>
            <a:ext cx="2651760" cy="237744"/>
          </a:xfrm>
          <a:prstGeom prst="rect">
            <a:avLst/>
          </a:prstGeom>
          <a:noFill/>
          <a:ln/>
        </p:spPr>
        <p:txBody>
          <a:bodyPr wrap="square" lIns="0" tIns="0" rIns="0" bIns="0" rtlCol="0" anchor="ctr"/>
          <a:lstStyle/>
          <a:p>
            <a:pPr indent="0" marL="0">
              <a:buNone/>
            </a:pPr>
            <a:r>
              <a:rPr lang="en-US" sz="1200" dirty="0">
                <a:solidFill>
                  <a:srgbClr val="FFFFFF"/>
                </a:solidFill>
                <a:latin typeface="Cambria" pitchFamily="34" charset="0"/>
                <a:ea typeface="Cambria" pitchFamily="34" charset="-122"/>
                <a:cs typeface="Cambria" pitchFamily="34" charset="-120"/>
              </a:rPr>
              <a:t>A Pavan Reddy</a:t>
            </a:r>
            <a:endParaRPr lang="en-US" sz="1200" dirty="0"/>
          </a:p>
        </p:txBody>
      </p:sp>
      <p:sp>
        <p:nvSpPr>
          <p:cNvPr id="17" name="Text 15"/>
          <p:cNvSpPr txBox="1"/>
          <p:nvPr/>
        </p:nvSpPr>
        <p:spPr>
          <a:xfrm>
            <a:off x="1078992" y="4700016"/>
            <a:ext cx="2651760" cy="219456"/>
          </a:xfrm>
          <a:prstGeom prst="rect">
            <a:avLst/>
          </a:prstGeom>
          <a:noFill/>
          <a:ln/>
        </p:spPr>
        <p:txBody>
          <a:bodyPr wrap="square" lIns="0" tIns="0" rIns="0" bIns="0" rtlCol="0" anchor="ctr"/>
          <a:lstStyle/>
          <a:p>
            <a:pPr indent="0" marL="0">
              <a:buNone/>
            </a:pPr>
            <a:r>
              <a:rPr lang="en-US" sz="1050" dirty="0">
                <a:solidFill>
                  <a:srgbClr val="8FA6B9"/>
                </a:solidFill>
                <a:latin typeface="Cambria" pitchFamily="34" charset="0"/>
                <a:ea typeface="Cambria" pitchFamily="34" charset="-122"/>
                <a:cs typeface="Cambria" pitchFamily="34" charset="-120"/>
              </a:rPr>
              <a:t>2510030393</a:t>
            </a:r>
            <a:endParaRPr lang="en-US" sz="1050" dirty="0"/>
          </a:p>
        </p:txBody>
      </p:sp>
      <p:sp>
        <p:nvSpPr>
          <p:cNvPr id="18" name="Text 16"/>
          <p:cNvSpPr txBox="1"/>
          <p:nvPr/>
        </p:nvSpPr>
        <p:spPr>
          <a:xfrm>
            <a:off x="3822192" y="4462272"/>
            <a:ext cx="2651760" cy="237744"/>
          </a:xfrm>
          <a:prstGeom prst="rect">
            <a:avLst/>
          </a:prstGeom>
          <a:noFill/>
          <a:ln/>
        </p:spPr>
        <p:txBody>
          <a:bodyPr wrap="square" lIns="0" tIns="0" rIns="0" bIns="0" rtlCol="0" anchor="ctr"/>
          <a:lstStyle/>
          <a:p>
            <a:pPr indent="0" marL="0">
              <a:buNone/>
            </a:pPr>
            <a:r>
              <a:rPr lang="en-US" sz="1200" dirty="0">
                <a:solidFill>
                  <a:srgbClr val="FFFFFF"/>
                </a:solidFill>
                <a:latin typeface="Cambria" pitchFamily="34" charset="0"/>
                <a:ea typeface="Cambria" pitchFamily="34" charset="-122"/>
                <a:cs typeface="Cambria" pitchFamily="34" charset="-120"/>
              </a:rPr>
              <a:t>Mohd Abdul Aiyaan</a:t>
            </a:r>
            <a:endParaRPr lang="en-US" sz="1200" dirty="0"/>
          </a:p>
        </p:txBody>
      </p:sp>
      <p:sp>
        <p:nvSpPr>
          <p:cNvPr id="19" name="Text 17"/>
          <p:cNvSpPr txBox="1"/>
          <p:nvPr/>
        </p:nvSpPr>
        <p:spPr>
          <a:xfrm>
            <a:off x="3822192" y="4700016"/>
            <a:ext cx="2651760" cy="219456"/>
          </a:xfrm>
          <a:prstGeom prst="rect">
            <a:avLst/>
          </a:prstGeom>
          <a:noFill/>
          <a:ln/>
        </p:spPr>
        <p:txBody>
          <a:bodyPr wrap="square" lIns="0" tIns="0" rIns="0" bIns="0" rtlCol="0" anchor="ctr"/>
          <a:lstStyle/>
          <a:p>
            <a:pPr indent="0" marL="0">
              <a:buNone/>
            </a:pPr>
            <a:r>
              <a:rPr lang="en-US" sz="1050" dirty="0">
                <a:solidFill>
                  <a:srgbClr val="8FA6B9"/>
                </a:solidFill>
                <a:latin typeface="Cambria" pitchFamily="34" charset="0"/>
                <a:ea typeface="Cambria" pitchFamily="34" charset="-122"/>
                <a:cs typeface="Cambria" pitchFamily="34" charset="-120"/>
              </a:rPr>
              <a:t>2510030309</a:t>
            </a:r>
            <a:endParaRPr lang="en-US" sz="1050" dirty="0"/>
          </a:p>
        </p:txBody>
      </p:sp>
      <p:sp>
        <p:nvSpPr>
          <p:cNvPr id="20" name="Shape 18"/>
          <p:cNvSpPr/>
          <p:nvPr/>
        </p:nvSpPr>
        <p:spPr>
          <a:xfrm>
            <a:off x="6967728" y="3310128"/>
            <a:ext cx="4434840" cy="1920240"/>
          </a:xfrm>
          <a:prstGeom prst="roundRect">
            <a:avLst>
              <a:gd name="adj" fmla="val 1905"/>
            </a:avLst>
          </a:prstGeom>
          <a:solidFill>
            <a:srgbClr val="1C7293"/>
          </a:solidFill>
          <a:ln w="12700">
            <a:solidFill>
              <a:srgbClr val="1C7293"/>
            </a:solidFill>
            <a:prstDash val="solid"/>
          </a:ln>
        </p:spPr>
      </p:sp>
      <p:sp>
        <p:nvSpPr>
          <p:cNvPr id="21" name="Text 19"/>
          <p:cNvSpPr txBox="1"/>
          <p:nvPr/>
        </p:nvSpPr>
        <p:spPr>
          <a:xfrm>
            <a:off x="7223760" y="3950208"/>
            <a:ext cx="393192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mbria" pitchFamily="34" charset="0"/>
                <a:ea typeface="Cambria" pitchFamily="34" charset="-122"/>
                <a:cs typeface="Cambria" pitchFamily="34" charset="-120"/>
              </a:rPr>
              <a:t>Learn  →  Predict  →  Manage Proactively</a:t>
            </a:r>
            <a:endParaRPr lang="en-US" sz="1600" dirty="0"/>
          </a:p>
        </p:txBody>
      </p:sp>
      <p:sp>
        <p:nvSpPr>
          <p:cNvPr id="22" name="Text 20"/>
          <p:cNvSpPr txBox="1"/>
          <p:nvPr/>
        </p:nvSpPr>
        <p:spPr>
          <a:xfrm>
            <a:off x="822960" y="5596128"/>
            <a:ext cx="8686800" cy="274320"/>
          </a:xfrm>
          <a:prstGeom prst="rect">
            <a:avLst/>
          </a:prstGeom>
          <a:noFill/>
          <a:ln/>
        </p:spPr>
        <p:txBody>
          <a:bodyPr wrap="square" lIns="0" tIns="0" rIns="0" bIns="0" rtlCol="0" anchor="ctr"/>
          <a:lstStyle/>
          <a:p>
            <a:pPr indent="0" marL="0">
              <a:buNone/>
            </a:pPr>
            <a:r>
              <a:rPr lang="en-US" sz="1200" i="1" dirty="0">
                <a:solidFill>
                  <a:srgbClr val="8FA6B9"/>
                </a:solidFill>
                <a:latin typeface="Cambria" pitchFamily="34" charset="0"/>
                <a:ea typeface="Cambria" pitchFamily="34" charset="-122"/>
                <a:cs typeface="Cambria" pitchFamily="34" charset="-120"/>
              </a:rPr>
              <a:t>Review-2  —  Literature Review &amp; Research Gap  |  Ten verified papers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02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Evolution of Page-Replacement Research</a:t>
            </a:r>
            <a:endParaRPr lang="en-US" sz="2900" dirty="0"/>
          </a:p>
        </p:txBody>
      </p:sp>
      <p:sp>
        <p:nvSpPr>
          <p:cNvPr id="6" name="Shape 4"/>
          <p:cNvSpPr/>
          <p:nvPr/>
        </p:nvSpPr>
        <p:spPr>
          <a:xfrm>
            <a:off x="502920" y="1444752"/>
            <a:ext cx="2066544" cy="2212848"/>
          </a:xfrm>
          <a:prstGeom prst="roundRect">
            <a:avLst>
              <a:gd name="adj" fmla="val 2212"/>
            </a:avLst>
          </a:prstGeom>
          <a:solidFill>
            <a:srgbClr val="F5F7FA"/>
          </a:solidFill>
          <a:ln w="12700">
            <a:solidFill>
              <a:srgbClr val="0F2942"/>
            </a:solidFill>
            <a:prstDash val="solid"/>
          </a:ln>
        </p:spPr>
      </p:sp>
      <p:sp>
        <p:nvSpPr>
          <p:cNvPr id="7" name="Text 5"/>
          <p:cNvSpPr txBox="1"/>
          <p:nvPr/>
        </p:nvSpPr>
        <p:spPr>
          <a:xfrm>
            <a:off x="704088" y="1627632"/>
            <a:ext cx="457200" cy="274320"/>
          </a:xfrm>
          <a:prstGeom prst="rect">
            <a:avLst/>
          </a:prstGeom>
          <a:noFill/>
          <a:ln/>
        </p:spPr>
        <p:txBody>
          <a:bodyPr wrap="square" lIns="0" tIns="0" rIns="0" bIns="0" rtlCol="0" anchor="ctr"/>
          <a:lstStyle/>
          <a:p>
            <a:pPr indent="0" marL="0">
              <a:buNone/>
            </a:pPr>
            <a:r>
              <a:rPr lang="en-US" sz="1300" b="1" dirty="0">
                <a:solidFill>
                  <a:srgbClr val="0F2942"/>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704088" y="1956816"/>
            <a:ext cx="1691640" cy="457200"/>
          </a:xfrm>
          <a:prstGeom prst="rect">
            <a:avLst/>
          </a:prstGeom>
          <a:noFill/>
          <a:ln/>
        </p:spPr>
        <p:txBody>
          <a:bodyPr wrap="square" lIns="0" tIns="0" rIns="0" bIns="0" rtlCol="0" anchor="t"/>
          <a:lstStyle/>
          <a:p>
            <a:pPr indent="0" marL="0">
              <a:lnSpc>
                <a:spcPts val="1700"/>
              </a:lnSpc>
              <a:buNone/>
            </a:pPr>
            <a:r>
              <a:rPr lang="en-US" sz="1400" b="1" dirty="0">
                <a:solidFill>
                  <a:srgbClr val="0F2942"/>
                </a:solidFill>
                <a:latin typeface="Cambria" pitchFamily="34" charset="0"/>
                <a:ea typeface="Cambria" pitchFamily="34" charset="-122"/>
                <a:cs typeface="Cambria" pitchFamily="34" charset="-120"/>
              </a:rPr>
              <a:t>Traditional</a:t>
            </a:r>
            <a:endParaRPr lang="en-US" sz="1400" dirty="0"/>
          </a:p>
        </p:txBody>
      </p:sp>
      <p:sp>
        <p:nvSpPr>
          <p:cNvPr id="9" name="Text 7"/>
          <p:cNvSpPr txBox="1"/>
          <p:nvPr/>
        </p:nvSpPr>
        <p:spPr>
          <a:xfrm>
            <a:off x="704088" y="2450592"/>
            <a:ext cx="1691640" cy="219456"/>
          </a:xfrm>
          <a:prstGeom prst="rect">
            <a:avLst/>
          </a:prstGeom>
          <a:noFill/>
          <a:ln/>
        </p:spPr>
        <p:txBody>
          <a:bodyPr wrap="square" lIns="0" tIns="0" rIns="0" bIns="0" rtlCol="0" anchor="ctr"/>
          <a:lstStyle/>
          <a:p>
            <a:pPr indent="0" marL="0">
              <a:buNone/>
            </a:pPr>
            <a:r>
              <a:rPr lang="en-US" sz="1050" dirty="0">
                <a:solidFill>
                  <a:srgbClr val="0F2942"/>
                </a:solidFill>
                <a:latin typeface="Cambria" pitchFamily="34" charset="0"/>
                <a:ea typeface="Cambria" pitchFamily="34" charset="-122"/>
                <a:cs typeface="Cambria" pitchFamily="34" charset="-120"/>
              </a:rPr>
              <a:t>P1 · P2</a:t>
            </a:r>
            <a:endParaRPr lang="en-US" sz="1050" dirty="0"/>
          </a:p>
        </p:txBody>
      </p:sp>
      <p:sp>
        <p:nvSpPr>
          <p:cNvPr id="10" name="Text 8"/>
          <p:cNvSpPr txBox="1"/>
          <p:nvPr/>
        </p:nvSpPr>
        <p:spPr>
          <a:xfrm>
            <a:off x="704088" y="2724912"/>
            <a:ext cx="1691640" cy="868680"/>
          </a:xfrm>
          <a:prstGeom prst="rect">
            <a:avLst/>
          </a:prstGeom>
          <a:noFill/>
          <a:ln/>
        </p:spPr>
        <p:txBody>
          <a:bodyPr wrap="square" lIns="0" tIns="0" rIns="0" bIns="0" rtlCol="0" anchor="t"/>
          <a:lstStyle/>
          <a:p>
            <a:pPr indent="0" marL="0">
              <a:lnSpc>
                <a:spcPts val="1400"/>
              </a:lnSpc>
              <a:buNone/>
            </a:pPr>
            <a:r>
              <a:rPr lang="en-US" sz="1050" dirty="0">
                <a:solidFill>
                  <a:srgbClr val="5B6472"/>
                </a:solidFill>
                <a:latin typeface="Cambria" pitchFamily="34" charset="0"/>
                <a:ea typeface="Cambria" pitchFamily="34" charset="-122"/>
                <a:cs typeface="Cambria" pitchFamily="34" charset="-120"/>
              </a:rPr>
              <a:t>Belady's optimum defines the bound; ARC balances recency and frequency.</a:t>
            </a:r>
            <a:endParaRPr lang="en-US" sz="1050" dirty="0"/>
          </a:p>
        </p:txBody>
      </p:sp>
      <p:sp>
        <p:nvSpPr>
          <p:cNvPr id="11" name="Text 9"/>
          <p:cNvSpPr txBox="1"/>
          <p:nvPr/>
        </p:nvSpPr>
        <p:spPr>
          <a:xfrm>
            <a:off x="2569464" y="2377440"/>
            <a:ext cx="210312" cy="274320"/>
          </a:xfrm>
          <a:prstGeom prst="rect">
            <a:avLst/>
          </a:prstGeom>
          <a:noFill/>
          <a:ln/>
        </p:spPr>
        <p:txBody>
          <a:bodyPr wrap="square" lIns="0" tIns="0" rIns="0" bIns="0" rtlCol="0" anchor="ctr"/>
          <a:lstStyle/>
          <a:p>
            <a:pPr algn="ctr" indent="0" marL="0">
              <a:buNone/>
            </a:pPr>
            <a:r>
              <a:rPr lang="en-US" sz="1400" dirty="0">
                <a:solidFill>
                  <a:srgbClr val="9AA5B1"/>
                </a:solidFill>
                <a:latin typeface="Cambria" pitchFamily="34" charset="0"/>
                <a:ea typeface="Cambria" pitchFamily="34" charset="-122"/>
                <a:cs typeface="Cambria" pitchFamily="34" charset="-120"/>
              </a:rPr>
              <a:t>→</a:t>
            </a:r>
            <a:endParaRPr lang="en-US" sz="1400" dirty="0"/>
          </a:p>
        </p:txBody>
      </p:sp>
      <p:sp>
        <p:nvSpPr>
          <p:cNvPr id="12" name="Shape 10"/>
          <p:cNvSpPr/>
          <p:nvPr/>
        </p:nvSpPr>
        <p:spPr>
          <a:xfrm>
            <a:off x="2779776" y="1444752"/>
            <a:ext cx="2066544" cy="2212848"/>
          </a:xfrm>
          <a:prstGeom prst="roundRect">
            <a:avLst>
              <a:gd name="adj" fmla="val 2212"/>
            </a:avLst>
          </a:prstGeom>
          <a:solidFill>
            <a:srgbClr val="F5F7FA"/>
          </a:solidFill>
          <a:ln w="12700">
            <a:solidFill>
              <a:srgbClr val="0F2942"/>
            </a:solidFill>
            <a:prstDash val="solid"/>
          </a:ln>
        </p:spPr>
      </p:sp>
      <p:sp>
        <p:nvSpPr>
          <p:cNvPr id="13" name="Text 11"/>
          <p:cNvSpPr txBox="1"/>
          <p:nvPr/>
        </p:nvSpPr>
        <p:spPr>
          <a:xfrm>
            <a:off x="2980944" y="1627632"/>
            <a:ext cx="457200" cy="274320"/>
          </a:xfrm>
          <a:prstGeom prst="rect">
            <a:avLst/>
          </a:prstGeom>
          <a:noFill/>
          <a:ln/>
        </p:spPr>
        <p:txBody>
          <a:bodyPr wrap="square" lIns="0" tIns="0" rIns="0" bIns="0" rtlCol="0" anchor="ctr"/>
          <a:lstStyle/>
          <a:p>
            <a:pPr indent="0" marL="0">
              <a:buNone/>
            </a:pPr>
            <a:r>
              <a:rPr lang="en-US" sz="1300" b="1" dirty="0">
                <a:solidFill>
                  <a:srgbClr val="0F2942"/>
                </a:solidFill>
                <a:latin typeface="Cambria" pitchFamily="34" charset="0"/>
                <a:ea typeface="Cambria" pitchFamily="34" charset="-122"/>
                <a:cs typeface="Cambria" pitchFamily="34" charset="-120"/>
              </a:rPr>
              <a:t>2</a:t>
            </a:r>
            <a:endParaRPr lang="en-US" sz="1300" dirty="0"/>
          </a:p>
        </p:txBody>
      </p:sp>
      <p:sp>
        <p:nvSpPr>
          <p:cNvPr id="14" name="Text 12"/>
          <p:cNvSpPr txBox="1"/>
          <p:nvPr/>
        </p:nvSpPr>
        <p:spPr>
          <a:xfrm>
            <a:off x="2980944" y="1956816"/>
            <a:ext cx="1691640" cy="457200"/>
          </a:xfrm>
          <a:prstGeom prst="rect">
            <a:avLst/>
          </a:prstGeom>
          <a:noFill/>
          <a:ln/>
        </p:spPr>
        <p:txBody>
          <a:bodyPr wrap="square" lIns="0" tIns="0" rIns="0" bIns="0" rtlCol="0" anchor="t"/>
          <a:lstStyle/>
          <a:p>
            <a:pPr indent="0" marL="0">
              <a:lnSpc>
                <a:spcPts val="1700"/>
              </a:lnSpc>
              <a:buNone/>
            </a:pPr>
            <a:r>
              <a:rPr lang="en-US" sz="1400" b="1" dirty="0">
                <a:solidFill>
                  <a:srgbClr val="0F2942"/>
                </a:solidFill>
                <a:latin typeface="Cambria" pitchFamily="34" charset="0"/>
                <a:ea typeface="Cambria" pitchFamily="34" charset="-122"/>
                <a:cs typeface="Cambria" pitchFamily="34" charset="-120"/>
              </a:rPr>
              <a:t>Reuse-aware</a:t>
            </a:r>
            <a:endParaRPr lang="en-US" sz="1400" dirty="0"/>
          </a:p>
        </p:txBody>
      </p:sp>
      <p:sp>
        <p:nvSpPr>
          <p:cNvPr id="15" name="Text 13"/>
          <p:cNvSpPr txBox="1"/>
          <p:nvPr/>
        </p:nvSpPr>
        <p:spPr>
          <a:xfrm>
            <a:off x="2980944" y="2450592"/>
            <a:ext cx="1691640" cy="219456"/>
          </a:xfrm>
          <a:prstGeom prst="rect">
            <a:avLst/>
          </a:prstGeom>
          <a:noFill/>
          <a:ln/>
        </p:spPr>
        <p:txBody>
          <a:bodyPr wrap="square" lIns="0" tIns="0" rIns="0" bIns="0" rtlCol="0" anchor="ctr"/>
          <a:lstStyle/>
          <a:p>
            <a:pPr indent="0" marL="0">
              <a:buNone/>
            </a:pPr>
            <a:r>
              <a:rPr lang="en-US" sz="1050" dirty="0">
                <a:solidFill>
                  <a:srgbClr val="0F2942"/>
                </a:solidFill>
                <a:latin typeface="Cambria" pitchFamily="34" charset="0"/>
                <a:ea typeface="Cambria" pitchFamily="34" charset="-122"/>
                <a:cs typeface="Cambria" pitchFamily="34" charset="-120"/>
              </a:rPr>
              <a:t>P3 · P4</a:t>
            </a:r>
            <a:endParaRPr lang="en-US" sz="1050" dirty="0"/>
          </a:p>
        </p:txBody>
      </p:sp>
      <p:sp>
        <p:nvSpPr>
          <p:cNvPr id="16" name="Text 14"/>
          <p:cNvSpPr txBox="1"/>
          <p:nvPr/>
        </p:nvSpPr>
        <p:spPr>
          <a:xfrm>
            <a:off x="2980944" y="2724912"/>
            <a:ext cx="1691640" cy="868680"/>
          </a:xfrm>
          <a:prstGeom prst="rect">
            <a:avLst/>
          </a:prstGeom>
          <a:noFill/>
          <a:ln/>
        </p:spPr>
        <p:txBody>
          <a:bodyPr wrap="square" lIns="0" tIns="0" rIns="0" bIns="0" rtlCol="0" anchor="t"/>
          <a:lstStyle/>
          <a:p>
            <a:pPr indent="0" marL="0">
              <a:lnSpc>
                <a:spcPts val="1400"/>
              </a:lnSpc>
              <a:buNone/>
            </a:pPr>
            <a:r>
              <a:rPr lang="en-US" sz="1050" dirty="0">
                <a:solidFill>
                  <a:srgbClr val="5B6472"/>
                </a:solidFill>
                <a:latin typeface="Cambria" pitchFamily="34" charset="0"/>
                <a:ea typeface="Cambria" pitchFamily="34" charset="-122"/>
                <a:cs typeface="Cambria" pitchFamily="34" charset="-120"/>
              </a:rPr>
              <a:t>Reuse distance becomes the ranking signal, and is shown to be predictable.</a:t>
            </a:r>
            <a:endParaRPr lang="en-US" sz="1050" dirty="0"/>
          </a:p>
        </p:txBody>
      </p:sp>
      <p:sp>
        <p:nvSpPr>
          <p:cNvPr id="17" name="Text 15"/>
          <p:cNvSpPr txBox="1"/>
          <p:nvPr/>
        </p:nvSpPr>
        <p:spPr>
          <a:xfrm>
            <a:off x="4846320" y="2377440"/>
            <a:ext cx="210312" cy="274320"/>
          </a:xfrm>
          <a:prstGeom prst="rect">
            <a:avLst/>
          </a:prstGeom>
          <a:noFill/>
          <a:ln/>
        </p:spPr>
        <p:txBody>
          <a:bodyPr wrap="square" lIns="0" tIns="0" rIns="0" bIns="0" rtlCol="0" anchor="ctr"/>
          <a:lstStyle/>
          <a:p>
            <a:pPr algn="ctr" indent="0" marL="0">
              <a:buNone/>
            </a:pPr>
            <a:r>
              <a:rPr lang="en-US" sz="1400" dirty="0">
                <a:solidFill>
                  <a:srgbClr val="9AA5B1"/>
                </a:solidFill>
                <a:latin typeface="Cambria" pitchFamily="34" charset="0"/>
                <a:ea typeface="Cambria" pitchFamily="34" charset="-122"/>
                <a:cs typeface="Cambria" pitchFamily="34" charset="-120"/>
              </a:rPr>
              <a:t>→</a:t>
            </a:r>
            <a:endParaRPr lang="en-US" sz="1400" dirty="0"/>
          </a:p>
        </p:txBody>
      </p:sp>
      <p:sp>
        <p:nvSpPr>
          <p:cNvPr id="18" name="Shape 16"/>
          <p:cNvSpPr/>
          <p:nvPr/>
        </p:nvSpPr>
        <p:spPr>
          <a:xfrm>
            <a:off x="5056632" y="1444752"/>
            <a:ext cx="2066544" cy="2212848"/>
          </a:xfrm>
          <a:prstGeom prst="roundRect">
            <a:avLst>
              <a:gd name="adj" fmla="val 2212"/>
            </a:avLst>
          </a:prstGeom>
          <a:solidFill>
            <a:srgbClr val="E4F1F5"/>
          </a:solidFill>
          <a:ln w="12700">
            <a:solidFill>
              <a:srgbClr val="1C7293"/>
            </a:solidFill>
            <a:prstDash val="solid"/>
          </a:ln>
        </p:spPr>
      </p:sp>
      <p:sp>
        <p:nvSpPr>
          <p:cNvPr id="19" name="Text 17"/>
          <p:cNvSpPr txBox="1"/>
          <p:nvPr/>
        </p:nvSpPr>
        <p:spPr>
          <a:xfrm>
            <a:off x="5257800" y="1627632"/>
            <a:ext cx="457200" cy="274320"/>
          </a:xfrm>
          <a:prstGeom prst="rect">
            <a:avLst/>
          </a:prstGeom>
          <a:noFill/>
          <a:ln/>
        </p:spPr>
        <p:txBody>
          <a:bodyPr wrap="square" lIns="0" tIns="0" rIns="0" bIns="0" rtlCol="0" anchor="ctr"/>
          <a:lstStyle/>
          <a:p>
            <a:pPr indent="0" marL="0">
              <a:buNone/>
            </a:pPr>
            <a:r>
              <a:rPr lang="en-US" sz="1300" b="1" dirty="0">
                <a:solidFill>
                  <a:srgbClr val="1C7293"/>
                </a:solidFill>
                <a:latin typeface="Cambria" pitchFamily="34" charset="0"/>
                <a:ea typeface="Cambria" pitchFamily="34" charset="-122"/>
                <a:cs typeface="Cambria" pitchFamily="34" charset="-120"/>
              </a:rPr>
              <a:t>3</a:t>
            </a:r>
            <a:endParaRPr lang="en-US" sz="1300" dirty="0"/>
          </a:p>
        </p:txBody>
      </p:sp>
      <p:sp>
        <p:nvSpPr>
          <p:cNvPr id="20" name="Text 18"/>
          <p:cNvSpPr txBox="1"/>
          <p:nvPr/>
        </p:nvSpPr>
        <p:spPr>
          <a:xfrm>
            <a:off x="5257800" y="1956816"/>
            <a:ext cx="1691640" cy="457200"/>
          </a:xfrm>
          <a:prstGeom prst="rect">
            <a:avLst/>
          </a:prstGeom>
          <a:noFill/>
          <a:ln/>
        </p:spPr>
        <p:txBody>
          <a:bodyPr wrap="square" lIns="0" tIns="0" rIns="0" bIns="0" rtlCol="0" anchor="t"/>
          <a:lstStyle/>
          <a:p>
            <a:pPr indent="0" marL="0">
              <a:lnSpc>
                <a:spcPts val="1700"/>
              </a:lnSpc>
              <a:buNone/>
            </a:pPr>
            <a:r>
              <a:rPr lang="en-US" sz="1400" b="1" dirty="0">
                <a:solidFill>
                  <a:srgbClr val="0F2942"/>
                </a:solidFill>
                <a:latin typeface="Cambria" pitchFamily="34" charset="0"/>
                <a:ea typeface="Cambria" pitchFamily="34" charset="-122"/>
                <a:cs typeface="Cambria" pitchFamily="34" charset="-120"/>
              </a:rPr>
              <a:t>Predictive</a:t>
            </a:r>
            <a:endParaRPr lang="en-US" sz="1400" dirty="0"/>
          </a:p>
        </p:txBody>
      </p:sp>
      <p:sp>
        <p:nvSpPr>
          <p:cNvPr id="21" name="Text 19"/>
          <p:cNvSpPr txBox="1"/>
          <p:nvPr/>
        </p:nvSpPr>
        <p:spPr>
          <a:xfrm>
            <a:off x="5257800" y="2450592"/>
            <a:ext cx="1691640" cy="219456"/>
          </a:xfrm>
          <a:prstGeom prst="rect">
            <a:avLst/>
          </a:prstGeom>
          <a:noFill/>
          <a:ln/>
        </p:spPr>
        <p:txBody>
          <a:bodyPr wrap="square" lIns="0" tIns="0" rIns="0" bIns="0" rtlCol="0" anchor="ctr"/>
          <a:lstStyle/>
          <a:p>
            <a:pPr indent="0" marL="0">
              <a:buNone/>
            </a:pPr>
            <a:r>
              <a:rPr lang="en-US" sz="1050" dirty="0">
                <a:solidFill>
                  <a:srgbClr val="1C7293"/>
                </a:solidFill>
                <a:latin typeface="Cambria" pitchFamily="34" charset="0"/>
                <a:ea typeface="Cambria" pitchFamily="34" charset="-122"/>
                <a:cs typeface="Cambria" pitchFamily="34" charset="-120"/>
              </a:rPr>
              <a:t>P5 · P6</a:t>
            </a:r>
            <a:endParaRPr lang="en-US" sz="1050" dirty="0"/>
          </a:p>
        </p:txBody>
      </p:sp>
      <p:sp>
        <p:nvSpPr>
          <p:cNvPr id="22" name="Text 20"/>
          <p:cNvSpPr txBox="1"/>
          <p:nvPr/>
        </p:nvSpPr>
        <p:spPr>
          <a:xfrm>
            <a:off x="5257800" y="2724912"/>
            <a:ext cx="1691640" cy="868680"/>
          </a:xfrm>
          <a:prstGeom prst="rect">
            <a:avLst/>
          </a:prstGeom>
          <a:noFill/>
          <a:ln/>
        </p:spPr>
        <p:txBody>
          <a:bodyPr wrap="square" lIns="0" tIns="0" rIns="0" bIns="0" rtlCol="0" anchor="t"/>
          <a:lstStyle/>
          <a:p>
            <a:pPr indent="0" marL="0">
              <a:lnSpc>
                <a:spcPts val="1400"/>
              </a:lnSpc>
              <a:buNone/>
            </a:pPr>
            <a:r>
              <a:rPr lang="en-US" sz="1050" dirty="0">
                <a:solidFill>
                  <a:srgbClr val="5B6472"/>
                </a:solidFill>
                <a:latin typeface="Cambria" pitchFamily="34" charset="0"/>
                <a:ea typeface="Cambria" pitchFamily="34" charset="-122"/>
                <a:cs typeface="Cambria" pitchFamily="34" charset="-120"/>
              </a:rPr>
              <a:t>Reuse distance is predicted, and the prediction picks the victim.</a:t>
            </a:r>
            <a:endParaRPr lang="en-US" sz="1050" dirty="0"/>
          </a:p>
        </p:txBody>
      </p:sp>
      <p:sp>
        <p:nvSpPr>
          <p:cNvPr id="23" name="Text 21"/>
          <p:cNvSpPr txBox="1"/>
          <p:nvPr/>
        </p:nvSpPr>
        <p:spPr>
          <a:xfrm>
            <a:off x="7123176" y="2377440"/>
            <a:ext cx="210312" cy="274320"/>
          </a:xfrm>
          <a:prstGeom prst="rect">
            <a:avLst/>
          </a:prstGeom>
          <a:noFill/>
          <a:ln/>
        </p:spPr>
        <p:txBody>
          <a:bodyPr wrap="square" lIns="0" tIns="0" rIns="0" bIns="0" rtlCol="0" anchor="ctr"/>
          <a:lstStyle/>
          <a:p>
            <a:pPr algn="ctr" indent="0" marL="0">
              <a:buNone/>
            </a:pPr>
            <a:r>
              <a:rPr lang="en-US" sz="1400" dirty="0">
                <a:solidFill>
                  <a:srgbClr val="9AA5B1"/>
                </a:solidFill>
                <a:latin typeface="Cambria" pitchFamily="34" charset="0"/>
                <a:ea typeface="Cambria" pitchFamily="34" charset="-122"/>
                <a:cs typeface="Cambria" pitchFamily="34" charset="-120"/>
              </a:rPr>
              <a:t>→</a:t>
            </a:r>
            <a:endParaRPr lang="en-US" sz="1400" dirty="0"/>
          </a:p>
        </p:txBody>
      </p:sp>
      <p:sp>
        <p:nvSpPr>
          <p:cNvPr id="24" name="Shape 22"/>
          <p:cNvSpPr/>
          <p:nvPr/>
        </p:nvSpPr>
        <p:spPr>
          <a:xfrm>
            <a:off x="7333488" y="1444752"/>
            <a:ext cx="2066544" cy="2212848"/>
          </a:xfrm>
          <a:prstGeom prst="roundRect">
            <a:avLst>
              <a:gd name="adj" fmla="val 2212"/>
            </a:avLst>
          </a:prstGeom>
          <a:solidFill>
            <a:srgbClr val="E4F1F5"/>
          </a:solidFill>
          <a:ln w="12700">
            <a:solidFill>
              <a:srgbClr val="1C7293"/>
            </a:solidFill>
            <a:prstDash val="solid"/>
          </a:ln>
        </p:spPr>
      </p:sp>
      <p:sp>
        <p:nvSpPr>
          <p:cNvPr id="25" name="Text 23"/>
          <p:cNvSpPr txBox="1"/>
          <p:nvPr/>
        </p:nvSpPr>
        <p:spPr>
          <a:xfrm>
            <a:off x="7534656" y="1627632"/>
            <a:ext cx="457200" cy="274320"/>
          </a:xfrm>
          <a:prstGeom prst="rect">
            <a:avLst/>
          </a:prstGeom>
          <a:noFill/>
          <a:ln/>
        </p:spPr>
        <p:txBody>
          <a:bodyPr wrap="square" lIns="0" tIns="0" rIns="0" bIns="0" rtlCol="0" anchor="ctr"/>
          <a:lstStyle/>
          <a:p>
            <a:pPr indent="0" marL="0">
              <a:buNone/>
            </a:pPr>
            <a:r>
              <a:rPr lang="en-US" sz="1300" b="1" dirty="0">
                <a:solidFill>
                  <a:srgbClr val="1C7293"/>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7534656" y="1956816"/>
            <a:ext cx="1691640" cy="457200"/>
          </a:xfrm>
          <a:prstGeom prst="rect">
            <a:avLst/>
          </a:prstGeom>
          <a:noFill/>
          <a:ln/>
        </p:spPr>
        <p:txBody>
          <a:bodyPr wrap="square" lIns="0" tIns="0" rIns="0" bIns="0" rtlCol="0" anchor="t"/>
          <a:lstStyle/>
          <a:p>
            <a:pPr indent="0" marL="0">
              <a:lnSpc>
                <a:spcPts val="1700"/>
              </a:lnSpc>
              <a:buNone/>
            </a:pPr>
            <a:r>
              <a:rPr lang="en-US" sz="1400" b="1" dirty="0">
                <a:solidFill>
                  <a:srgbClr val="0F2942"/>
                </a:solidFill>
                <a:latin typeface="Cambria" pitchFamily="34" charset="0"/>
                <a:ea typeface="Cambria" pitchFamily="34" charset="-122"/>
                <a:cs typeface="Cambria" pitchFamily="34" charset="-120"/>
              </a:rPr>
              <a:t>Learning-based</a:t>
            </a:r>
            <a:endParaRPr lang="en-US" sz="1400" dirty="0"/>
          </a:p>
        </p:txBody>
      </p:sp>
      <p:sp>
        <p:nvSpPr>
          <p:cNvPr id="27" name="Text 25"/>
          <p:cNvSpPr txBox="1"/>
          <p:nvPr/>
        </p:nvSpPr>
        <p:spPr>
          <a:xfrm>
            <a:off x="7534656" y="2450592"/>
            <a:ext cx="1691640" cy="219456"/>
          </a:xfrm>
          <a:prstGeom prst="rect">
            <a:avLst/>
          </a:prstGeom>
          <a:noFill/>
          <a:ln/>
        </p:spPr>
        <p:txBody>
          <a:bodyPr wrap="square" lIns="0" tIns="0" rIns="0" bIns="0" rtlCol="0" anchor="ctr"/>
          <a:lstStyle/>
          <a:p>
            <a:pPr indent="0" marL="0">
              <a:buNone/>
            </a:pPr>
            <a:r>
              <a:rPr lang="en-US" sz="1050" dirty="0">
                <a:solidFill>
                  <a:srgbClr val="1C7293"/>
                </a:solidFill>
                <a:latin typeface="Cambria" pitchFamily="34" charset="0"/>
                <a:ea typeface="Cambria" pitchFamily="34" charset="-122"/>
                <a:cs typeface="Cambria" pitchFamily="34" charset="-120"/>
              </a:rPr>
              <a:t>P7 · P8 · P9</a:t>
            </a:r>
            <a:endParaRPr lang="en-US" sz="1050" dirty="0"/>
          </a:p>
        </p:txBody>
      </p:sp>
      <p:sp>
        <p:nvSpPr>
          <p:cNvPr id="28" name="Text 26"/>
          <p:cNvSpPr txBox="1"/>
          <p:nvPr/>
        </p:nvSpPr>
        <p:spPr>
          <a:xfrm>
            <a:off x="7534656" y="2724912"/>
            <a:ext cx="1691640" cy="868680"/>
          </a:xfrm>
          <a:prstGeom prst="rect">
            <a:avLst/>
          </a:prstGeom>
          <a:noFill/>
          <a:ln/>
        </p:spPr>
        <p:txBody>
          <a:bodyPr wrap="square" lIns="0" tIns="0" rIns="0" bIns="0" rtlCol="0" anchor="t"/>
          <a:lstStyle/>
          <a:p>
            <a:pPr indent="0" marL="0">
              <a:lnSpc>
                <a:spcPts val="1400"/>
              </a:lnSpc>
              <a:buNone/>
            </a:pPr>
            <a:r>
              <a:rPr lang="en-US" sz="1050" dirty="0">
                <a:solidFill>
                  <a:srgbClr val="5B6472"/>
                </a:solidFill>
                <a:latin typeface="Cambria" pitchFamily="34" charset="0"/>
                <a:ea typeface="Cambria" pitchFamily="34" charset="-122"/>
                <a:cs typeface="Cambria" pitchFamily="34" charset="-120"/>
              </a:rPr>
              <a:t>Models learn access behaviour and eviction policy directly.</a:t>
            </a:r>
            <a:endParaRPr lang="en-US" sz="1050" dirty="0"/>
          </a:p>
        </p:txBody>
      </p:sp>
      <p:sp>
        <p:nvSpPr>
          <p:cNvPr id="29" name="Text 27"/>
          <p:cNvSpPr txBox="1"/>
          <p:nvPr/>
        </p:nvSpPr>
        <p:spPr>
          <a:xfrm>
            <a:off x="9400032" y="2377440"/>
            <a:ext cx="210312" cy="274320"/>
          </a:xfrm>
          <a:prstGeom prst="rect">
            <a:avLst/>
          </a:prstGeom>
          <a:noFill/>
          <a:ln/>
        </p:spPr>
        <p:txBody>
          <a:bodyPr wrap="square" lIns="0" tIns="0" rIns="0" bIns="0" rtlCol="0" anchor="ctr"/>
          <a:lstStyle/>
          <a:p>
            <a:pPr algn="ctr" indent="0" marL="0">
              <a:buNone/>
            </a:pPr>
            <a:r>
              <a:rPr lang="en-US" sz="1400" dirty="0">
                <a:solidFill>
                  <a:srgbClr val="9AA5B1"/>
                </a:solidFill>
                <a:latin typeface="Cambria" pitchFamily="34" charset="0"/>
                <a:ea typeface="Cambria" pitchFamily="34" charset="-122"/>
                <a:cs typeface="Cambria" pitchFamily="34" charset="-120"/>
              </a:rPr>
              <a:t>→</a:t>
            </a:r>
            <a:endParaRPr lang="en-US" sz="1400" dirty="0"/>
          </a:p>
        </p:txBody>
      </p:sp>
      <p:sp>
        <p:nvSpPr>
          <p:cNvPr id="30" name="Shape 28"/>
          <p:cNvSpPr/>
          <p:nvPr/>
        </p:nvSpPr>
        <p:spPr>
          <a:xfrm>
            <a:off x="9610344" y="1444752"/>
            <a:ext cx="2066544" cy="2212848"/>
          </a:xfrm>
          <a:prstGeom prst="roundRect">
            <a:avLst>
              <a:gd name="adj" fmla="val 2212"/>
            </a:avLst>
          </a:prstGeom>
          <a:solidFill>
            <a:srgbClr val="EFEAFA"/>
          </a:solidFill>
          <a:ln w="12700">
            <a:solidFill>
              <a:srgbClr val="6C4AB6"/>
            </a:solidFill>
            <a:prstDash val="solid"/>
          </a:ln>
        </p:spPr>
      </p:sp>
      <p:sp>
        <p:nvSpPr>
          <p:cNvPr id="31" name="Text 29"/>
          <p:cNvSpPr txBox="1"/>
          <p:nvPr/>
        </p:nvSpPr>
        <p:spPr>
          <a:xfrm>
            <a:off x="9811512" y="1627632"/>
            <a:ext cx="457200" cy="274320"/>
          </a:xfrm>
          <a:prstGeom prst="rect">
            <a:avLst/>
          </a:prstGeom>
          <a:noFill/>
          <a:ln/>
        </p:spPr>
        <p:txBody>
          <a:bodyPr wrap="square" lIns="0" tIns="0" rIns="0" bIns="0" rtlCol="0" anchor="ctr"/>
          <a:lstStyle/>
          <a:p>
            <a:pPr indent="0" marL="0">
              <a:buNone/>
            </a:pPr>
            <a:r>
              <a:rPr lang="en-US" sz="1300" b="1" dirty="0">
                <a:solidFill>
                  <a:srgbClr val="6C4AB6"/>
                </a:solidFill>
                <a:latin typeface="Cambria" pitchFamily="34" charset="0"/>
                <a:ea typeface="Cambria" pitchFamily="34" charset="-122"/>
                <a:cs typeface="Cambria" pitchFamily="34" charset="-120"/>
              </a:rPr>
              <a:t>5</a:t>
            </a:r>
            <a:endParaRPr lang="en-US" sz="1300" dirty="0"/>
          </a:p>
        </p:txBody>
      </p:sp>
      <p:sp>
        <p:nvSpPr>
          <p:cNvPr id="32" name="Text 30"/>
          <p:cNvSpPr txBox="1"/>
          <p:nvPr/>
        </p:nvSpPr>
        <p:spPr>
          <a:xfrm>
            <a:off x="9811512" y="1956816"/>
            <a:ext cx="1691640" cy="457200"/>
          </a:xfrm>
          <a:prstGeom prst="rect">
            <a:avLst/>
          </a:prstGeom>
          <a:noFill/>
          <a:ln/>
        </p:spPr>
        <p:txBody>
          <a:bodyPr wrap="square" lIns="0" tIns="0" rIns="0" bIns="0" rtlCol="0" anchor="t"/>
          <a:lstStyle/>
          <a:p>
            <a:pPr indent="0" marL="0">
              <a:lnSpc>
                <a:spcPts val="1700"/>
              </a:lnSpc>
              <a:buNone/>
            </a:pPr>
            <a:r>
              <a:rPr lang="en-US" sz="1400" b="1" dirty="0">
                <a:solidFill>
                  <a:srgbClr val="0F2942"/>
                </a:solidFill>
                <a:latin typeface="Cambria" pitchFamily="34" charset="0"/>
                <a:ea typeface="Cambria" pitchFamily="34" charset="-122"/>
                <a:cs typeface="Cambria" pitchFamily="34" charset="-120"/>
              </a:rPr>
              <a:t>Page-level ML</a:t>
            </a:r>
            <a:endParaRPr lang="en-US" sz="1400" dirty="0"/>
          </a:p>
        </p:txBody>
      </p:sp>
      <p:sp>
        <p:nvSpPr>
          <p:cNvPr id="33" name="Text 31"/>
          <p:cNvSpPr txBox="1"/>
          <p:nvPr/>
        </p:nvSpPr>
        <p:spPr>
          <a:xfrm>
            <a:off x="9811512" y="2450592"/>
            <a:ext cx="1691640" cy="219456"/>
          </a:xfrm>
          <a:prstGeom prst="rect">
            <a:avLst/>
          </a:prstGeom>
          <a:noFill/>
          <a:ln/>
        </p:spPr>
        <p:txBody>
          <a:bodyPr wrap="square" lIns="0" tIns="0" rIns="0" bIns="0" rtlCol="0" anchor="ctr"/>
          <a:lstStyle/>
          <a:p>
            <a:pPr indent="0" marL="0">
              <a:buNone/>
            </a:pPr>
            <a:r>
              <a:rPr lang="en-US" sz="1050" dirty="0">
                <a:solidFill>
                  <a:srgbClr val="6C4AB6"/>
                </a:solidFill>
                <a:latin typeface="Cambria" pitchFamily="34" charset="0"/>
                <a:ea typeface="Cambria" pitchFamily="34" charset="-122"/>
                <a:cs typeface="Cambria" pitchFamily="34" charset="-120"/>
              </a:rPr>
              <a:t>P10</a:t>
            </a:r>
            <a:endParaRPr lang="en-US" sz="1050" dirty="0"/>
          </a:p>
        </p:txBody>
      </p:sp>
      <p:sp>
        <p:nvSpPr>
          <p:cNvPr id="34" name="Text 32"/>
          <p:cNvSpPr txBox="1"/>
          <p:nvPr/>
        </p:nvSpPr>
        <p:spPr>
          <a:xfrm>
            <a:off x="9811512" y="2724912"/>
            <a:ext cx="1691640" cy="868680"/>
          </a:xfrm>
          <a:prstGeom prst="rect">
            <a:avLst/>
          </a:prstGeom>
          <a:noFill/>
          <a:ln/>
        </p:spPr>
        <p:txBody>
          <a:bodyPr wrap="square" lIns="0" tIns="0" rIns="0" bIns="0" rtlCol="0" anchor="t"/>
          <a:lstStyle/>
          <a:p>
            <a:pPr indent="0" marL="0">
              <a:lnSpc>
                <a:spcPts val="1400"/>
              </a:lnSpc>
              <a:buNone/>
            </a:pPr>
            <a:r>
              <a:rPr lang="en-US" sz="1050" dirty="0">
                <a:solidFill>
                  <a:srgbClr val="5B6472"/>
                </a:solidFill>
                <a:latin typeface="Cambria" pitchFamily="34" charset="0"/>
                <a:ea typeface="Cambria" pitchFamily="34" charset="-122"/>
                <a:cs typeface="Cambria" pitchFamily="34" charset="-120"/>
              </a:rPr>
              <a:t>Machine intelligence reaches OS page granularity.</a:t>
            </a:r>
            <a:endParaRPr lang="en-US" sz="1050" dirty="0"/>
          </a:p>
        </p:txBody>
      </p:sp>
      <p:sp>
        <p:nvSpPr>
          <p:cNvPr id="35" name="Shape 33"/>
          <p:cNvSpPr/>
          <p:nvPr/>
        </p:nvSpPr>
        <p:spPr>
          <a:xfrm>
            <a:off x="502920" y="3968496"/>
            <a:ext cx="5440680" cy="1627632"/>
          </a:xfrm>
          <a:prstGeom prst="roundRect">
            <a:avLst>
              <a:gd name="adj" fmla="val 2809"/>
            </a:avLst>
          </a:prstGeom>
          <a:solidFill>
            <a:srgbClr val="E4F1F5"/>
          </a:solidFill>
          <a:ln w="12700">
            <a:solidFill>
              <a:srgbClr val="1C7293"/>
            </a:solidFill>
            <a:prstDash val="solid"/>
          </a:ln>
        </p:spPr>
      </p:sp>
      <p:sp>
        <p:nvSpPr>
          <p:cNvPr id="36" name="Text 34"/>
          <p:cNvSpPr txBox="1"/>
          <p:nvPr/>
        </p:nvSpPr>
        <p:spPr>
          <a:xfrm>
            <a:off x="758952" y="4133088"/>
            <a:ext cx="4928616" cy="219456"/>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mbria" pitchFamily="34" charset="0"/>
                <a:ea typeface="Cambria" pitchFamily="34" charset="-122"/>
                <a:cs typeface="Cambria" pitchFamily="34" charset="-120"/>
              </a:rPr>
              <a:t>WHAT THE LINE ESTABLISHES</a:t>
            </a:r>
            <a:endParaRPr lang="en-US" sz="1050" dirty="0"/>
          </a:p>
        </p:txBody>
      </p:sp>
      <p:sp>
        <p:nvSpPr>
          <p:cNvPr id="37" name="Text 35"/>
          <p:cNvSpPr txBox="1"/>
          <p:nvPr/>
        </p:nvSpPr>
        <p:spPr>
          <a:xfrm>
            <a:off x="758952" y="4425696"/>
            <a:ext cx="4928616" cy="969264"/>
          </a:xfrm>
          <a:prstGeom prst="rect">
            <a:avLst/>
          </a:prstGeom>
          <a:noFill/>
          <a:ln/>
        </p:spPr>
        <p:txBody>
          <a:bodyPr wrap="square" lIns="0" tIns="0" rIns="0" bIns="0" rtlCol="0" anchor="t"/>
          <a:lstStyle/>
          <a:p>
            <a:pPr indent="0" marL="0">
              <a:lnSpc>
                <a:spcPts val="1900"/>
              </a:lnSpc>
              <a:buNone/>
            </a:pPr>
            <a:r>
              <a:rPr lang="en-US" sz="1200" dirty="0">
                <a:solidFill>
                  <a:srgbClr val="1F2937"/>
                </a:solidFill>
                <a:latin typeface="Cambria" pitchFamily="34" charset="0"/>
                <a:ea typeface="Cambria" pitchFamily="34" charset="-122"/>
                <a:cs typeface="Cambria" pitchFamily="34" charset="-120"/>
              </a:rPr>
              <a:t>Reuse behaviour — not recency alone — is the signal that predicts future page usefulness, and it can be estimated from observed history at acceptable cost.</a:t>
            </a:r>
            <a:endParaRPr lang="en-US" sz="1200" dirty="0"/>
          </a:p>
        </p:txBody>
      </p:sp>
      <p:sp>
        <p:nvSpPr>
          <p:cNvPr id="38" name="Shape 36"/>
          <p:cNvSpPr/>
          <p:nvPr/>
        </p:nvSpPr>
        <p:spPr>
          <a:xfrm>
            <a:off x="6245352" y="3968496"/>
            <a:ext cx="5440680" cy="1627632"/>
          </a:xfrm>
          <a:prstGeom prst="roundRect">
            <a:avLst>
              <a:gd name="adj" fmla="val 2809"/>
            </a:avLst>
          </a:prstGeom>
          <a:solidFill>
            <a:srgbClr val="EFEAFA"/>
          </a:solidFill>
          <a:ln w="12700">
            <a:solidFill>
              <a:srgbClr val="6C4AB6"/>
            </a:solidFill>
            <a:prstDash val="solid"/>
          </a:ln>
        </p:spPr>
      </p:sp>
      <p:sp>
        <p:nvSpPr>
          <p:cNvPr id="39" name="Text 37"/>
          <p:cNvSpPr txBox="1"/>
          <p:nvPr/>
        </p:nvSpPr>
        <p:spPr>
          <a:xfrm>
            <a:off x="6501384" y="4133088"/>
            <a:ext cx="4928616" cy="219456"/>
          </a:xfrm>
          <a:prstGeom prst="rect">
            <a:avLst/>
          </a:prstGeom>
          <a:noFill/>
          <a:ln/>
        </p:spPr>
        <p:txBody>
          <a:bodyPr wrap="square" lIns="0" tIns="0" rIns="0" bIns="0" rtlCol="0" anchor="ctr"/>
          <a:lstStyle/>
          <a:p>
            <a:pPr indent="0" marL="0">
              <a:buNone/>
            </a:pPr>
            <a:r>
              <a:rPr lang="en-US" sz="1050" b="1" spc="150" kern="0" dirty="0">
                <a:solidFill>
                  <a:srgbClr val="6C4AB6"/>
                </a:solidFill>
                <a:latin typeface="Cambria" pitchFamily="34" charset="0"/>
                <a:ea typeface="Cambria" pitchFamily="34" charset="-122"/>
                <a:cs typeface="Cambria" pitchFamily="34" charset="-120"/>
              </a:rPr>
              <a:t>IMPORTANT SCOPE NOTE</a:t>
            </a:r>
            <a:endParaRPr lang="en-US" sz="1050" dirty="0"/>
          </a:p>
        </p:txBody>
      </p:sp>
      <p:sp>
        <p:nvSpPr>
          <p:cNvPr id="40" name="Text 38"/>
          <p:cNvSpPr txBox="1"/>
          <p:nvPr/>
        </p:nvSpPr>
        <p:spPr>
          <a:xfrm>
            <a:off x="6501384" y="4425696"/>
            <a:ext cx="4928616" cy="969264"/>
          </a:xfrm>
          <a:prstGeom prst="rect">
            <a:avLst/>
          </a:prstGeom>
          <a:noFill/>
          <a:ln/>
        </p:spPr>
        <p:txBody>
          <a:bodyPr wrap="square" lIns="0" tIns="0" rIns="0" bIns="0" rtlCol="0" anchor="t"/>
          <a:lstStyle/>
          <a:p>
            <a:pPr indent="0" marL="0">
              <a:lnSpc>
                <a:spcPts val="1900"/>
              </a:lnSpc>
              <a:buNone/>
            </a:pPr>
            <a:r>
              <a:rPr lang="en-US" sz="1200" dirty="0">
                <a:solidFill>
                  <a:srgbClr val="1F2937"/>
                </a:solidFill>
                <a:latin typeface="Cambria" pitchFamily="34" charset="0"/>
                <a:ea typeface="Cambria" pitchFamily="34" charset="-122"/>
                <a:cs typeface="Cambria" pitchFamily="34" charset="-120"/>
              </a:rPr>
              <a:t>Six of the ten papers target hardware caches or memory tiers. They are labelled as related cache-replacement research and are not treated as equivalent to virtual-memory paging.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03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Literature Review — Papers 1 to 5</a:t>
            </a:r>
            <a:endParaRPr lang="en-US" sz="2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11183112" cy="914400"/>
        </p:xfrm>
        <a:graphic>
          <a:graphicData uri="http://schemas.openxmlformats.org/drawingml/2006/table">
            <a:tbl>
              <a:tblPr/>
              <a:tblGrid>
                <a:gridCol w="411480"/>
                <a:gridCol w="2514600"/>
                <a:gridCol w="2880360"/>
                <a:gridCol w="2688336"/>
                <a:gridCol w="2688336"/>
              </a:tblGrid>
              <a:tr h="658368">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Paper / Venue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Approach</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Advantage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Limitation</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1</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Belady (1966)</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IBM Systems Journal</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Defines optimal MIN — evict the page reused furthest ahead</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Provable lower bound every policy is measured against</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Needs the future reference string; cannot run online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2</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Megiddo &amp; Modha (2003)</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USENIX FAST</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Two LRU lists with ghost lists, self-tuning recency vs frequency</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Constant time, scan-resistant, no workload tuning</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One global partition; no per-page reuse estimate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3</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Jiang &amp; Zhang (2002)</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ACM SIGMETRICS</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Ranks pages by Inter-Reference Recency instead of recency</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Survives loops and scans where LRU thrashes</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Past IRR used as-is; no learned model</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4</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Ding &amp; Zhong (2003)</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ACM PLDI</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Reuse-distance analysis predicts locality for unseen inputs</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~94% accuracy; proves reuse distance is predictable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Offline profiling; makes no eviction decision</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5</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Keramidas et al. (2007)</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IEEE ICCD  ·  cache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PC-indexed reuse-distance prediction drives L2 eviction</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First to predict reuse and evict on the prediction</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Hardware cache lines and PC tags; no page equivalent</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02920" y="5943600"/>
            <a:ext cx="11183112" cy="274320"/>
          </a:xfrm>
          <a:prstGeom prst="rect">
            <a:avLst/>
          </a:prstGeom>
          <a:noFill/>
          <a:ln/>
        </p:spPr>
        <p:txBody>
          <a:bodyPr wrap="square" lIns="0" tIns="0" rIns="0" bIns="0" rtlCol="0" anchor="t"/>
          <a:lstStyle/>
          <a:p>
            <a:pPr indent="0" marL="0">
              <a:buNone/>
            </a:pPr>
            <a:r>
              <a:rPr lang="en-US" sz="1100" i="1" dirty="0">
                <a:solidFill>
                  <a:srgbClr val="5B6472"/>
                </a:solidFill>
                <a:latin typeface="Cambria" pitchFamily="34" charset="0"/>
                <a:ea typeface="Cambria" pitchFamily="34" charset="-122"/>
                <a:cs typeface="Cambria" pitchFamily="34" charset="-120"/>
              </a:rPr>
              <a:t>Papers 1–4 operate on pages or buffer blocks. Paper 5 is related cache-replacement research — same predict-then-evict logic, different granularity.</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04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Literature Review — Papers 6 to 10</a:t>
            </a:r>
            <a:endParaRPr lang="en-US" sz="2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11183112" cy="914400"/>
        </p:xfrm>
        <a:graphic>
          <a:graphicData uri="http://schemas.openxmlformats.org/drawingml/2006/table">
            <a:tbl>
              <a:tblPr/>
              <a:tblGrid>
                <a:gridCol w="411480"/>
                <a:gridCol w="2514600"/>
                <a:gridCol w="2880360"/>
                <a:gridCol w="2688336"/>
                <a:gridCol w="2688336"/>
              </a:tblGrid>
              <a:tr h="658368">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Paper / Venue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Approach</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Advantage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Limitation</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6</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Jain &amp; Lin (2016)</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ISCA  ·  cache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Replays Belady over past accesses to supervise a predictor</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8.4% speedup over LRU at a 16 KB budget</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Per-PC classification, not per-page reuse time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7</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Hashemi et al. (2018)</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ICML (PMLR 80)</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LSTMs model access streams to predict address deltas</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Shows memory behaviour is genuinely learnable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Targets prefetching, not eviction; model too costly in-path</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8</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Shi et al. (2019)</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MICRO-52  ·  cache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Interprets an offline LSTM, distils it into a cheap online predictor</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Learning chooses the features; a light scorer ships</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Deep model never deployed; predictor stays cache-specific</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9</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Liu et al. (2020)</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ICML (PMLR 119)  ·  cache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Imitation learning trains a policy to copy Belady's oracle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61% hit-rate gain over LRU on a web-search benchmark</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Inference far too costly per eviction; simulator only</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658368">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b="1" dirty="0">
                          <a:solidFill>
                            <a:srgbClr val="1F2937"/>
                          </a:solidFill>
                          <a:latin typeface="Cambria" pitchFamily="34" charset="0"/>
                          <a:ea typeface="Cambria" pitchFamily="34" charset="-122"/>
                          <a:cs typeface="Cambria" pitchFamily="34" charset="-120"/>
                        </a:rPr>
                        <a:t>Doudali et al. (2019)</a:t>
                      </a:r>
                      <a:endParaRPr lang="en-US" sz="1000" dirty="0">
                        <a:latin typeface="Cambria" charset="0"/>
                        <a:ea typeface="Cambria" charset="0"/>
                        <a:cs typeface="Cambria" charset="0"/>
                      </a:endParaRPr>
                    </a:p>
                    <a:p>
                      <a:pPr indent="0" marL="0">
                        <a:buNone/>
                      </a:pPr>
                      <a:r>
                        <a:rPr lang="en-US" sz="1000" b="1" dirty="0">
                          <a:solidFill>
                            <a:srgbClr val="1F2937"/>
                          </a:solidFill>
                          <a:latin typeface="Cambria" pitchFamily="34" charset="0"/>
                          <a:ea typeface="Cambria" pitchFamily="34" charset="-122"/>
                          <a:cs typeface="Cambria" pitchFamily="34" charset="-120"/>
                        </a:rPr>
                        <a:t>ACM HPDC  ·  page-level</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Per-page RNNs on a selected subset drive hybrid-memory placement</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Page granularity with ML cost kept bounded</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mbria" pitchFamily="34" charset="0"/>
                          <a:ea typeface="Cambria" pitchFamily="34" charset="-122"/>
                          <a:cs typeface="Cambria" pitchFamily="34" charset="-120"/>
                        </a:rPr>
                        <a:t>Decides tier placement, not victim selection under pressure</a:t>
                      </a:r>
                      <a:endParaRPr lang="en-US" sz="10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02920" y="5943600"/>
            <a:ext cx="11183112" cy="274320"/>
          </a:xfrm>
          <a:prstGeom prst="rect">
            <a:avLst/>
          </a:prstGeom>
          <a:noFill/>
          <a:ln/>
        </p:spPr>
        <p:txBody>
          <a:bodyPr wrap="square" lIns="0" tIns="0" rIns="0" bIns="0" rtlCol="0" anchor="t"/>
          <a:lstStyle/>
          <a:p>
            <a:pPr indent="0" marL="0">
              <a:buNone/>
            </a:pPr>
            <a:r>
              <a:rPr lang="en-US" sz="1100" i="1" dirty="0">
                <a:solidFill>
                  <a:srgbClr val="5B6472"/>
                </a:solidFill>
                <a:latin typeface="Cambria" pitchFamily="34" charset="0"/>
                <a:ea typeface="Cambria" pitchFamily="34" charset="-122"/>
                <a:cs typeface="Cambria" pitchFamily="34" charset="-120"/>
              </a:rPr>
              <a:t>Paper 10 is the closest to AIPage in granularity — real OS pages — but its output is a placement, not an eviction.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05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Comparative Analysis</a:t>
            </a:r>
            <a:endParaRPr lang="en-US" sz="2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11183112" cy="914400"/>
        </p:xfrm>
        <a:graphic>
          <a:graphicData uri="http://schemas.openxmlformats.org/drawingml/2006/table">
            <a:tbl>
              <a:tblPr/>
              <a:tblGrid>
                <a:gridCol w="1874520"/>
                <a:gridCol w="960120"/>
                <a:gridCol w="2286000"/>
                <a:gridCol w="2148840"/>
                <a:gridCol w="1691640"/>
                <a:gridCol w="2221992"/>
              </a:tblGrid>
              <a:tr h="438912">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Category</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Papers</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Signal used</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Predicts reuse?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Evicts pages?</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c>
                  <a:txBody>
                    <a:bodyPr/>
                    <a:lstStyle/>
                    <a:p>
                      <a:pPr indent="0" marL="0">
                        <a:buNone/>
                      </a:pPr>
                      <a:r>
                        <a:rPr lang="en-US" sz="1100" b="1" dirty="0">
                          <a:solidFill>
                            <a:srgbClr val="FFFFFF"/>
                          </a:solidFill>
                          <a:latin typeface="Cambria" pitchFamily="34" charset="0"/>
                          <a:ea typeface="Cambria" pitchFamily="34" charset="-122"/>
                          <a:cs typeface="Cambria" pitchFamily="34" charset="-120"/>
                        </a:rPr>
                        <a:t>Scope</a:t>
                      </a:r>
                      <a:endParaRPr lang="en-US" sz="110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0F2942"/>
                    </a:solidFill>
                  </a:tcPr>
                </a:tc>
              </a:tr>
              <a:tr h="438912">
                <a:tc>
                  <a:txBody>
                    <a:bodyPr/>
                    <a:lstStyle/>
                    <a:p>
                      <a:pPr indent="0" marL="0">
                        <a:buNone/>
                      </a:pPr>
                      <a:r>
                        <a:rPr lang="en-US" sz="1050" b="1" dirty="0">
                          <a:solidFill>
                            <a:srgbClr val="1F2937"/>
                          </a:solidFill>
                          <a:latin typeface="Cambria" pitchFamily="34" charset="0"/>
                          <a:ea typeface="Cambria" pitchFamily="34" charset="-122"/>
                          <a:cs typeface="Cambria" pitchFamily="34" charset="-120"/>
                        </a:rPr>
                        <a:t>Traditional</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1, 2</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Recency, frequency</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No</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Yes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Virtual memory / buffer cache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F2937"/>
                          </a:solidFill>
                          <a:latin typeface="Cambria" pitchFamily="34" charset="0"/>
                          <a:ea typeface="Cambria" pitchFamily="34" charset="-122"/>
                          <a:cs typeface="Cambria" pitchFamily="34" charset="-120"/>
                        </a:rPr>
                        <a:t>Reuse-aware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3, 4</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Reuse distance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Partly — observed, not modelled</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P3 yes, P4 no</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Buffer cache / program analysis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438912">
                <a:tc>
                  <a:txBody>
                    <a:bodyPr/>
                    <a:lstStyle/>
                    <a:p>
                      <a:pPr indent="0" marL="0">
                        <a:buNone/>
                      </a:pPr>
                      <a:r>
                        <a:rPr lang="en-US" sz="1050" b="1" dirty="0">
                          <a:solidFill>
                            <a:srgbClr val="1F2937"/>
                          </a:solidFill>
                          <a:latin typeface="Cambria" pitchFamily="34" charset="0"/>
                          <a:ea typeface="Cambria" pitchFamily="34" charset="-122"/>
                          <a:cs typeface="Cambria" pitchFamily="34" charset="-120"/>
                        </a:rPr>
                        <a:t>Predictive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5, 6</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Predicted reuse distance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Yes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Yes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Hardware cache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r h="438912">
                <a:tc>
                  <a:txBody>
                    <a:bodyPr/>
                    <a:lstStyle/>
                    <a:p>
                      <a:pPr indent="0" marL="0">
                        <a:buNone/>
                      </a:pPr>
                      <a:r>
                        <a:rPr lang="en-US" sz="1050" b="1" dirty="0">
                          <a:solidFill>
                            <a:srgbClr val="1F2937"/>
                          </a:solidFill>
                          <a:latin typeface="Cambria" pitchFamily="34" charset="0"/>
                          <a:ea typeface="Cambria" pitchFamily="34" charset="-122"/>
                          <a:cs typeface="Cambria" pitchFamily="34" charset="-120"/>
                        </a:rPr>
                        <a:t>Learning-based</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7, 8, 9</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Learned access patterns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Yes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P8, P9 yes; P7 no</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Hardware cache</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5F7FA"/>
                    </a:solidFill>
                  </a:tcPr>
                </a:tc>
              </a:tr>
              <a:tr h="438912">
                <a:tc>
                  <a:txBody>
                    <a:bodyPr/>
                    <a:lstStyle/>
                    <a:p>
                      <a:pPr indent="0" marL="0">
                        <a:buNone/>
                      </a:pPr>
                      <a:r>
                        <a:rPr lang="en-US" sz="1050" b="1" dirty="0">
                          <a:solidFill>
                            <a:srgbClr val="1F2937"/>
                          </a:solidFill>
                          <a:latin typeface="Cambria" pitchFamily="34" charset="0"/>
                          <a:ea typeface="Cambria" pitchFamily="34" charset="-122"/>
                          <a:cs typeface="Cambria" pitchFamily="34" charset="-120"/>
                        </a:rPr>
                        <a:t>Page-level ML</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Per-page access counts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Yes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No — placement</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mbria" pitchFamily="34" charset="0"/>
                          <a:ea typeface="Cambria" pitchFamily="34" charset="-122"/>
                          <a:cs typeface="Cambria" pitchFamily="34" charset="-120"/>
                        </a:rPr>
                        <a:t>OS pages across memory tiers</a:t>
                      </a:r>
                      <a:endParaRPr lang="en-US" sz="1050" dirty="0">
                        <a:latin typeface="Cambria" charset="0"/>
                        <a:ea typeface="Cambria" charset="0"/>
                        <a:cs typeface="Cambria" charset="0"/>
                      </a:endParaRPr>
                    </a:p>
                  </a:txBody>
                  <a:tcPr marL="91440" marR="91440" marT="45720" marB="45720" anchor="ctr">
                    <a:lnL w="9525" cap="flat" cmpd="sng" algn="ctr">
                      <a:solidFill>
                        <a:srgbClr val="DFE4EA"/>
                      </a:solidFill>
                      <a:prstDash val="solid"/>
                      <a:round/>
                      <a:headEnd type="none" w="med" len="med"/>
                      <a:tailEnd type="none" w="med" len="med"/>
                    </a:lnL>
                    <a:lnR w="9525" cap="flat" cmpd="sng" algn="ctr">
                      <a:solidFill>
                        <a:srgbClr val="DFE4EA"/>
                      </a:solidFill>
                      <a:prstDash val="solid"/>
                      <a:round/>
                      <a:headEnd type="none" w="med" len="med"/>
                      <a:tailEnd type="none" w="med" len="med"/>
                    </a:lnR>
                    <a:lnT w="9525" cap="flat" cmpd="sng" algn="ctr">
                      <a:solidFill>
                        <a:srgbClr val="DFE4EA"/>
                      </a:solidFill>
                      <a:prstDash val="solid"/>
                      <a:round/>
                      <a:headEnd type="none" w="med" len="med"/>
                      <a:tailEnd type="none" w="med" len="med"/>
                    </a:lnT>
                    <a:lnB w="9525" cap="flat" cmpd="sng" algn="ctr">
                      <a:solidFill>
                        <a:srgbClr val="DFE4EA"/>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754880"/>
            <a:ext cx="11183112" cy="1280160"/>
          </a:xfrm>
          <a:prstGeom prst="roundRect">
            <a:avLst>
              <a:gd name="adj" fmla="val 3571"/>
            </a:avLst>
          </a:prstGeom>
          <a:solidFill>
            <a:srgbClr val="E4F1F5"/>
          </a:solidFill>
          <a:ln w="12700">
            <a:solidFill>
              <a:srgbClr val="1C7293"/>
            </a:solidFill>
            <a:prstDash val="solid"/>
          </a:ln>
        </p:spPr>
      </p:sp>
      <p:sp>
        <p:nvSpPr>
          <p:cNvPr id="8" name="Text 5"/>
          <p:cNvSpPr txBox="1"/>
          <p:nvPr/>
        </p:nvSpPr>
        <p:spPr>
          <a:xfrm>
            <a:off x="758952" y="4919472"/>
            <a:ext cx="10671048" cy="219456"/>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mbria" pitchFamily="34" charset="0"/>
                <a:ea typeface="Cambria" pitchFamily="34" charset="-122"/>
                <a:cs typeface="Cambria" pitchFamily="34" charset="-120"/>
              </a:rPr>
              <a:t>KEY OBSERVATION</a:t>
            </a:r>
            <a:endParaRPr lang="en-US" sz="1050" dirty="0"/>
          </a:p>
        </p:txBody>
      </p:sp>
      <p:sp>
        <p:nvSpPr>
          <p:cNvPr id="9" name="Text 6"/>
          <p:cNvSpPr txBox="1"/>
          <p:nvPr/>
        </p:nvSpPr>
        <p:spPr>
          <a:xfrm>
            <a:off x="758952" y="5212080"/>
            <a:ext cx="10671048" cy="621792"/>
          </a:xfrm>
          <a:prstGeom prst="rect">
            <a:avLst/>
          </a:prstGeom>
          <a:noFill/>
          <a:ln/>
        </p:spPr>
        <p:txBody>
          <a:bodyPr wrap="square" lIns="0" tIns="0" rIns="0" bIns="0" rtlCol="0" anchor="t"/>
          <a:lstStyle/>
          <a:p>
            <a:pPr indent="0" marL="0">
              <a:lnSpc>
                <a:spcPts val="1900"/>
              </a:lnSpc>
              <a:buNone/>
            </a:pPr>
            <a:r>
              <a:rPr lang="en-US" sz="1200" dirty="0">
                <a:solidFill>
                  <a:srgbClr val="1F2937"/>
                </a:solidFill>
                <a:latin typeface="Cambria" pitchFamily="34" charset="0"/>
                <a:ea typeface="Cambria" pitchFamily="34" charset="-122"/>
                <a:cs typeface="Cambria" pitchFamily="34" charset="-120"/>
              </a:rPr>
              <a:t>Every approach that both predicts reuse and evicts on it (Papers 5, 6, 8, 9) works on hardware cache lines. The only page-granularity learner (Paper 10) predicts, but places rather than evicts.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06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Research Gap &amp; How AIPage Responds</a:t>
            </a:r>
            <a:endParaRPr lang="en-US" sz="2900" dirty="0"/>
          </a:p>
        </p:txBody>
      </p:sp>
      <p:sp>
        <p:nvSpPr>
          <p:cNvPr id="6" name="Shape 4"/>
          <p:cNvSpPr/>
          <p:nvPr/>
        </p:nvSpPr>
        <p:spPr>
          <a:xfrm>
            <a:off x="502920" y="1444752"/>
            <a:ext cx="5440680" cy="2194560"/>
          </a:xfrm>
          <a:prstGeom prst="roundRect">
            <a:avLst>
              <a:gd name="adj" fmla="val 2083"/>
            </a:avLst>
          </a:prstGeom>
          <a:solidFill>
            <a:srgbClr val="EFEAFA"/>
          </a:solidFill>
          <a:ln w="12700">
            <a:solidFill>
              <a:srgbClr val="6C4AB6"/>
            </a:solidFill>
            <a:prstDash val="solid"/>
          </a:ln>
        </p:spPr>
      </p:sp>
      <p:sp>
        <p:nvSpPr>
          <p:cNvPr id="7" name="Text 5"/>
          <p:cNvSpPr txBox="1"/>
          <p:nvPr/>
        </p:nvSpPr>
        <p:spPr>
          <a:xfrm>
            <a:off x="758952" y="1609344"/>
            <a:ext cx="4928616" cy="219456"/>
          </a:xfrm>
          <a:prstGeom prst="rect">
            <a:avLst/>
          </a:prstGeom>
          <a:noFill/>
          <a:ln/>
        </p:spPr>
        <p:txBody>
          <a:bodyPr wrap="square" lIns="0" tIns="0" rIns="0" bIns="0" rtlCol="0" anchor="ctr"/>
          <a:lstStyle/>
          <a:p>
            <a:pPr indent="0" marL="0">
              <a:buNone/>
            </a:pPr>
            <a:r>
              <a:rPr lang="en-US" sz="1050" b="1" spc="150" kern="0" dirty="0">
                <a:solidFill>
                  <a:srgbClr val="6C4AB6"/>
                </a:solidFill>
                <a:latin typeface="Cambria" pitchFamily="34" charset="0"/>
                <a:ea typeface="Cambria" pitchFamily="34" charset="-122"/>
                <a:cs typeface="Cambria" pitchFamily="34" charset="-120"/>
              </a:rPr>
              <a:t>RESEARCH GAP</a:t>
            </a:r>
            <a:endParaRPr lang="en-US" sz="1050" dirty="0"/>
          </a:p>
        </p:txBody>
      </p:sp>
      <p:sp>
        <p:nvSpPr>
          <p:cNvPr id="8" name="Text 6"/>
          <p:cNvSpPr txBox="1"/>
          <p:nvPr/>
        </p:nvSpPr>
        <p:spPr>
          <a:xfrm>
            <a:off x="758952" y="1901952"/>
            <a:ext cx="4928616" cy="1536192"/>
          </a:xfrm>
          <a:prstGeom prst="rect">
            <a:avLst/>
          </a:prstGeom>
          <a:noFill/>
          <a:ln/>
        </p:spPr>
        <p:txBody>
          <a:bodyPr wrap="square" lIns="0" tIns="0" rIns="0" bIns="0" rtlCol="0" anchor="t"/>
          <a:lstStyle/>
          <a:p>
            <a:pPr indent="0" marL="0">
              <a:lnSpc>
                <a:spcPts val="1900"/>
              </a:lnSpc>
              <a:buNone/>
            </a:pPr>
            <a:r>
              <a:rPr lang="en-US" sz="1200" dirty="0">
                <a:solidFill>
                  <a:srgbClr val="1F2937"/>
                </a:solidFill>
                <a:latin typeface="Cambria" pitchFamily="34" charset="0"/>
                <a:ea typeface="Cambria" pitchFamily="34" charset="-122"/>
                <a:cs typeface="Cambria" pitchFamily="34" charset="-120"/>
              </a:rPr>
              <a:t>Predictive, reuse-aware replacement is well established — but almost entirely for hardware caches. Page-level machine learning exists, yet targets tier placement. Connecting multi-feature reuse prediction to Linux virtual-memory victim selection, using live process telemetry, is the case the literature leaves comparatively open.</a:t>
            </a:r>
            <a:endParaRPr lang="en-US" sz="1200" dirty="0"/>
          </a:p>
        </p:txBody>
      </p:sp>
      <p:sp>
        <p:nvSpPr>
          <p:cNvPr id="9" name="Shape 7"/>
          <p:cNvSpPr/>
          <p:nvPr/>
        </p:nvSpPr>
        <p:spPr>
          <a:xfrm>
            <a:off x="502920" y="3822192"/>
            <a:ext cx="5440680" cy="2194560"/>
          </a:xfrm>
          <a:prstGeom prst="roundRect">
            <a:avLst>
              <a:gd name="adj" fmla="val 2083"/>
            </a:avLst>
          </a:prstGeom>
          <a:solidFill>
            <a:srgbClr val="F5F7FA"/>
          </a:solidFill>
          <a:ln w="12700">
            <a:solidFill>
              <a:srgbClr val="DFE4EA"/>
            </a:solidFill>
            <a:prstDash val="solid"/>
          </a:ln>
        </p:spPr>
      </p:sp>
      <p:sp>
        <p:nvSpPr>
          <p:cNvPr id="10" name="Text 8"/>
          <p:cNvSpPr txBox="1"/>
          <p:nvPr/>
        </p:nvSpPr>
        <p:spPr>
          <a:xfrm>
            <a:off x="758952" y="3986784"/>
            <a:ext cx="4937760" cy="219456"/>
          </a:xfrm>
          <a:prstGeom prst="rect">
            <a:avLst/>
          </a:prstGeom>
          <a:noFill/>
          <a:ln/>
        </p:spPr>
        <p:txBody>
          <a:bodyPr wrap="square" lIns="0" tIns="0" rIns="0" bIns="0" rtlCol="0" anchor="ctr"/>
          <a:lstStyle/>
          <a:p>
            <a:pPr indent="0" marL="0">
              <a:buNone/>
            </a:pPr>
            <a:r>
              <a:rPr lang="en-US" sz="1050" b="1" spc="150" kern="0" dirty="0">
                <a:solidFill>
                  <a:srgbClr val="0F2942"/>
                </a:solidFill>
                <a:latin typeface="Cambria" pitchFamily="34" charset="0"/>
                <a:ea typeface="Cambria" pitchFamily="34" charset="-122"/>
                <a:cs typeface="Cambria" pitchFamily="34" charset="-120"/>
              </a:rPr>
              <a:t>WHAT WE DO NOT CLAIM</a:t>
            </a:r>
            <a:endParaRPr lang="en-US" sz="1050" dirty="0"/>
          </a:p>
        </p:txBody>
      </p:sp>
      <p:sp>
        <p:nvSpPr>
          <p:cNvPr id="11" name="Text 9"/>
          <p:cNvSpPr txBox="1"/>
          <p:nvPr/>
        </p:nvSpPr>
        <p:spPr>
          <a:xfrm>
            <a:off x="758952" y="4279392"/>
            <a:ext cx="4937760" cy="402336"/>
          </a:xfrm>
          <a:prstGeom prst="rect">
            <a:avLst/>
          </a:prstGeom>
          <a:noFill/>
          <a:ln/>
        </p:spPr>
        <p:txBody>
          <a:bodyPr wrap="square" lIns="0" tIns="0" rIns="0" bIns="0" rtlCol="0" anchor="t"/>
          <a:lstStyle/>
          <a:p>
            <a:pPr marL="342900" indent="-342900">
              <a:lnSpc>
                <a:spcPts val="1300"/>
              </a:lnSpc>
              <a:buSzPct val="100000"/>
              <a:buChar char="–"/>
            </a:pPr>
            <a:r>
              <a:rPr lang="en-US" sz="1050" dirty="0">
                <a:solidFill>
                  <a:srgbClr val="5B6472"/>
                </a:solidFill>
                <a:latin typeface="Cambria" pitchFamily="34" charset="0"/>
                <a:ea typeface="Cambria" pitchFamily="34" charset="-122"/>
                <a:cs typeface="Cambria" pitchFamily="34" charset="-120"/>
              </a:rPr>
              <a:t>Not that predictive replacement is new — Papers 5, 6, 8 and 9 predate AIPage.</a:t>
            </a:r>
            <a:endParaRPr lang="en-US" sz="1050" dirty="0"/>
          </a:p>
        </p:txBody>
      </p:sp>
      <p:sp>
        <p:nvSpPr>
          <p:cNvPr id="12" name="Text 10"/>
          <p:cNvSpPr txBox="1"/>
          <p:nvPr/>
        </p:nvSpPr>
        <p:spPr>
          <a:xfrm>
            <a:off x="758952" y="4700016"/>
            <a:ext cx="4937760" cy="402336"/>
          </a:xfrm>
          <a:prstGeom prst="rect">
            <a:avLst/>
          </a:prstGeom>
          <a:noFill/>
          <a:ln/>
        </p:spPr>
        <p:txBody>
          <a:bodyPr wrap="square" lIns="0" tIns="0" rIns="0" bIns="0" rtlCol="0" anchor="t"/>
          <a:lstStyle/>
          <a:p>
            <a:pPr marL="342900" indent="-342900">
              <a:lnSpc>
                <a:spcPts val="1300"/>
              </a:lnSpc>
              <a:buSzPct val="100000"/>
              <a:buChar char="–"/>
            </a:pPr>
            <a:r>
              <a:rPr lang="en-US" sz="1050" dirty="0">
                <a:solidFill>
                  <a:srgbClr val="5B6472"/>
                </a:solidFill>
                <a:latin typeface="Cambria" pitchFamily="34" charset="0"/>
                <a:ea typeface="Cambria" pitchFamily="34" charset="-122"/>
                <a:cs typeface="Cambria" pitchFamily="34" charset="-120"/>
              </a:rPr>
              <a:t>Not that AIPage always outperforms LRU or FIFO; results are workload-dependent.</a:t>
            </a:r>
            <a:endParaRPr lang="en-US" sz="1050" dirty="0"/>
          </a:p>
        </p:txBody>
      </p:sp>
      <p:sp>
        <p:nvSpPr>
          <p:cNvPr id="13" name="Text 11"/>
          <p:cNvSpPr txBox="1"/>
          <p:nvPr/>
        </p:nvSpPr>
        <p:spPr>
          <a:xfrm>
            <a:off x="758952" y="5120640"/>
            <a:ext cx="4937760" cy="402336"/>
          </a:xfrm>
          <a:prstGeom prst="rect">
            <a:avLst/>
          </a:prstGeom>
          <a:noFill/>
          <a:ln/>
        </p:spPr>
        <p:txBody>
          <a:bodyPr wrap="square" lIns="0" tIns="0" rIns="0" bIns="0" rtlCol="0" anchor="t"/>
          <a:lstStyle/>
          <a:p>
            <a:pPr marL="342900" indent="-342900">
              <a:lnSpc>
                <a:spcPts val="1300"/>
              </a:lnSpc>
              <a:buSzPct val="100000"/>
              <a:buChar char="–"/>
            </a:pPr>
            <a:r>
              <a:rPr lang="en-US" sz="1050" dirty="0">
                <a:solidFill>
                  <a:srgbClr val="5B6472"/>
                </a:solidFill>
                <a:latin typeface="Cambria" pitchFamily="34" charset="0"/>
                <a:ea typeface="Cambria" pitchFamily="34" charset="-122"/>
                <a:cs typeface="Cambria" pitchFamily="34" charset="-120"/>
              </a:rPr>
              <a:t>Not that cache replacement and page replacement are the same problem.</a:t>
            </a:r>
            <a:endParaRPr lang="en-US" sz="1050" dirty="0"/>
          </a:p>
        </p:txBody>
      </p:sp>
      <p:sp>
        <p:nvSpPr>
          <p:cNvPr id="14" name="Text 12"/>
          <p:cNvSpPr txBox="1"/>
          <p:nvPr/>
        </p:nvSpPr>
        <p:spPr>
          <a:xfrm>
            <a:off x="758952" y="5541264"/>
            <a:ext cx="4937760" cy="402336"/>
          </a:xfrm>
          <a:prstGeom prst="rect">
            <a:avLst/>
          </a:prstGeom>
          <a:noFill/>
          <a:ln/>
        </p:spPr>
        <p:txBody>
          <a:bodyPr wrap="square" lIns="0" tIns="0" rIns="0" bIns="0" rtlCol="0" anchor="t"/>
          <a:lstStyle/>
          <a:p>
            <a:pPr marL="342900" indent="-342900">
              <a:lnSpc>
                <a:spcPts val="1300"/>
              </a:lnSpc>
              <a:buSzPct val="100000"/>
              <a:buChar char="–"/>
            </a:pPr>
            <a:r>
              <a:rPr lang="en-US" sz="1050" dirty="0">
                <a:solidFill>
                  <a:srgbClr val="5B6472"/>
                </a:solidFill>
                <a:latin typeface="Cambria" pitchFamily="34" charset="0"/>
                <a:ea typeface="Cambria" pitchFamily="34" charset="-122"/>
                <a:cs typeface="Cambria" pitchFamily="34" charset="-120"/>
              </a:rPr>
              <a:t>Not that AIPage uses deep learning or modifies the Linux kernel.</a:t>
            </a:r>
            <a:endParaRPr lang="en-US" sz="1050" dirty="0"/>
          </a:p>
        </p:txBody>
      </p:sp>
      <p:sp>
        <p:nvSpPr>
          <p:cNvPr id="15" name="Text 13"/>
          <p:cNvSpPr txBox="1"/>
          <p:nvPr/>
        </p:nvSpPr>
        <p:spPr>
          <a:xfrm>
            <a:off x="6245352" y="1444752"/>
            <a:ext cx="5440680" cy="237744"/>
          </a:xfrm>
          <a:prstGeom prst="rect">
            <a:avLst/>
          </a:prstGeom>
          <a:noFill/>
          <a:ln/>
        </p:spPr>
        <p:txBody>
          <a:bodyPr wrap="square" lIns="0" tIns="0" rIns="0" bIns="0" rtlCol="0" anchor="ctr"/>
          <a:lstStyle/>
          <a:p>
            <a:pPr indent="0" marL="0">
              <a:buNone/>
            </a:pPr>
            <a:r>
              <a:rPr lang="en-US" sz="1050" b="1" spc="150" kern="0" dirty="0">
                <a:solidFill>
                  <a:srgbClr val="1C7293"/>
                </a:solidFill>
                <a:latin typeface="Cambria" pitchFamily="34" charset="0"/>
                <a:ea typeface="Cambria" pitchFamily="34" charset="-122"/>
                <a:cs typeface="Cambria" pitchFamily="34" charset="-120"/>
              </a:rPr>
              <a:t>AIPAGE'S RESPONSE</a:t>
            </a:r>
            <a:endParaRPr lang="en-US" sz="1050" dirty="0"/>
          </a:p>
        </p:txBody>
      </p:sp>
      <p:sp>
        <p:nvSpPr>
          <p:cNvPr id="16" name="Shape 14"/>
          <p:cNvSpPr/>
          <p:nvPr/>
        </p:nvSpPr>
        <p:spPr>
          <a:xfrm>
            <a:off x="6245352" y="1773936"/>
            <a:ext cx="5440680" cy="932688"/>
          </a:xfrm>
          <a:prstGeom prst="roundRect">
            <a:avLst>
              <a:gd name="adj" fmla="val 4902"/>
            </a:avLst>
          </a:prstGeom>
          <a:solidFill>
            <a:srgbClr val="FFFFFF"/>
          </a:solidFill>
          <a:ln w="12700">
            <a:solidFill>
              <a:srgbClr val="DFE4EA"/>
            </a:solidFill>
            <a:prstDash val="solid"/>
          </a:ln>
        </p:spPr>
      </p:sp>
      <p:sp>
        <p:nvSpPr>
          <p:cNvPr id="17" name="Shape 15"/>
          <p:cNvSpPr/>
          <p:nvPr/>
        </p:nvSpPr>
        <p:spPr>
          <a:xfrm>
            <a:off x="6446520" y="2066544"/>
            <a:ext cx="347472" cy="347472"/>
          </a:xfrm>
          <a:prstGeom prst="ellipse">
            <a:avLst/>
          </a:prstGeom>
          <a:solidFill>
            <a:srgbClr val="1C7293"/>
          </a:solidFill>
          <a:ln/>
        </p:spPr>
      </p:sp>
      <p:sp>
        <p:nvSpPr>
          <p:cNvPr id="18" name="Text 16"/>
          <p:cNvSpPr txBox="1"/>
          <p:nvPr/>
        </p:nvSpPr>
        <p:spPr>
          <a:xfrm>
            <a:off x="6446520" y="2066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9" name="Text 17"/>
          <p:cNvSpPr txBox="1"/>
          <p:nvPr/>
        </p:nvSpPr>
        <p:spPr>
          <a:xfrm>
            <a:off x="6931152" y="1901952"/>
            <a:ext cx="4572000" cy="237744"/>
          </a:xfrm>
          <a:prstGeom prst="rect">
            <a:avLst/>
          </a:prstGeom>
          <a:noFill/>
          <a:ln/>
        </p:spPr>
        <p:txBody>
          <a:bodyPr wrap="square" lIns="0" tIns="0" rIns="0" bIns="0" rtlCol="0" anchor="ctr"/>
          <a:lstStyle/>
          <a:p>
            <a:pPr indent="0" marL="0">
              <a:buNone/>
            </a:pPr>
            <a:r>
              <a:rPr lang="en-US" sz="1200" b="1" dirty="0">
                <a:solidFill>
                  <a:srgbClr val="0F2942"/>
                </a:solidFill>
                <a:latin typeface="Cambria" pitchFamily="34" charset="0"/>
                <a:ea typeface="Cambria" pitchFamily="34" charset="-122"/>
                <a:cs typeface="Cambria" pitchFamily="34" charset="-120"/>
              </a:rPr>
              <a:t>Page granularity, not cache lines</a:t>
            </a:r>
            <a:endParaRPr lang="en-US" sz="1200" dirty="0"/>
          </a:p>
        </p:txBody>
      </p:sp>
      <p:sp>
        <p:nvSpPr>
          <p:cNvPr id="20" name="Text 18"/>
          <p:cNvSpPr txBox="1"/>
          <p:nvPr/>
        </p:nvSpPr>
        <p:spPr>
          <a:xfrm>
            <a:off x="6931152" y="2157984"/>
            <a:ext cx="4572000" cy="457200"/>
          </a:xfrm>
          <a:prstGeom prst="rect">
            <a:avLst/>
          </a:prstGeom>
          <a:noFill/>
          <a:ln/>
        </p:spPr>
        <p:txBody>
          <a:bodyPr wrap="square" lIns="0" tIns="0" rIns="0" bIns="0" rtlCol="0" anchor="t"/>
          <a:lstStyle/>
          <a:p>
            <a:pPr indent="0" marL="0">
              <a:lnSpc>
                <a:spcPts val="1300"/>
              </a:lnSpc>
              <a:buNone/>
            </a:pPr>
            <a:r>
              <a:rPr lang="en-US" sz="1000" dirty="0">
                <a:solidFill>
                  <a:srgbClr val="5B6472"/>
                </a:solidFill>
                <a:latin typeface="Cambria" pitchFamily="34" charset="0"/>
                <a:ea typeface="Cambria" pitchFamily="34" charset="-122"/>
                <a:cs typeface="Cambria" pitchFamily="34" charset="-120"/>
              </a:rPr>
              <a:t>Works on page frames using only signals a user-space monitor can observe — no PC stream, no hardware tables.</a:t>
            </a:r>
            <a:endParaRPr lang="en-US" sz="1000" dirty="0"/>
          </a:p>
        </p:txBody>
      </p:sp>
      <p:sp>
        <p:nvSpPr>
          <p:cNvPr id="21" name="Shape 19"/>
          <p:cNvSpPr/>
          <p:nvPr/>
        </p:nvSpPr>
        <p:spPr>
          <a:xfrm>
            <a:off x="6245352" y="2852928"/>
            <a:ext cx="5440680" cy="932688"/>
          </a:xfrm>
          <a:prstGeom prst="roundRect">
            <a:avLst>
              <a:gd name="adj" fmla="val 4902"/>
            </a:avLst>
          </a:prstGeom>
          <a:solidFill>
            <a:srgbClr val="FFFFFF"/>
          </a:solidFill>
          <a:ln w="12700">
            <a:solidFill>
              <a:srgbClr val="DFE4EA"/>
            </a:solidFill>
            <a:prstDash val="solid"/>
          </a:ln>
        </p:spPr>
      </p:sp>
      <p:sp>
        <p:nvSpPr>
          <p:cNvPr id="22" name="Shape 20"/>
          <p:cNvSpPr/>
          <p:nvPr/>
        </p:nvSpPr>
        <p:spPr>
          <a:xfrm>
            <a:off x="6446520" y="3145536"/>
            <a:ext cx="347472" cy="347472"/>
          </a:xfrm>
          <a:prstGeom prst="ellipse">
            <a:avLst/>
          </a:prstGeom>
          <a:solidFill>
            <a:srgbClr val="1C7293"/>
          </a:solidFill>
          <a:ln/>
        </p:spPr>
      </p:sp>
      <p:sp>
        <p:nvSpPr>
          <p:cNvPr id="23" name="Text 21"/>
          <p:cNvSpPr txBox="1"/>
          <p:nvPr/>
        </p:nvSpPr>
        <p:spPr>
          <a:xfrm>
            <a:off x="6446520" y="3145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4" name="Text 22"/>
          <p:cNvSpPr txBox="1"/>
          <p:nvPr/>
        </p:nvSpPr>
        <p:spPr>
          <a:xfrm>
            <a:off x="6931152" y="2980944"/>
            <a:ext cx="4572000" cy="237744"/>
          </a:xfrm>
          <a:prstGeom prst="rect">
            <a:avLst/>
          </a:prstGeom>
          <a:noFill/>
          <a:ln/>
        </p:spPr>
        <p:txBody>
          <a:bodyPr wrap="square" lIns="0" tIns="0" rIns="0" bIns="0" rtlCol="0" anchor="ctr"/>
          <a:lstStyle/>
          <a:p>
            <a:pPr indent="0" marL="0">
              <a:buNone/>
            </a:pPr>
            <a:r>
              <a:rPr lang="en-US" sz="1200" b="1" dirty="0">
                <a:solidFill>
                  <a:srgbClr val="0F2942"/>
                </a:solidFill>
                <a:latin typeface="Cambria" pitchFamily="34" charset="0"/>
                <a:ea typeface="Cambria" pitchFamily="34" charset="-122"/>
                <a:cs typeface="Cambria" pitchFamily="34" charset="-120"/>
              </a:rPr>
              <a:t>Seven reuse features, not one scalar</a:t>
            </a:r>
            <a:endParaRPr lang="en-US" sz="1200" dirty="0"/>
          </a:p>
        </p:txBody>
      </p:sp>
      <p:sp>
        <p:nvSpPr>
          <p:cNvPr id="25" name="Text 23"/>
          <p:cNvSpPr txBox="1"/>
          <p:nvPr/>
        </p:nvSpPr>
        <p:spPr>
          <a:xfrm>
            <a:off x="6931152" y="3236976"/>
            <a:ext cx="4572000" cy="457200"/>
          </a:xfrm>
          <a:prstGeom prst="rect">
            <a:avLst/>
          </a:prstGeom>
          <a:noFill/>
          <a:ln/>
        </p:spPr>
        <p:txBody>
          <a:bodyPr wrap="square" lIns="0" tIns="0" rIns="0" bIns="0" rtlCol="0" anchor="t"/>
          <a:lstStyle/>
          <a:p>
            <a:pPr indent="0" marL="0">
              <a:lnSpc>
                <a:spcPts val="1300"/>
              </a:lnSpc>
              <a:buNone/>
            </a:pPr>
            <a:r>
              <a:rPr lang="en-US" sz="1000" dirty="0">
                <a:solidFill>
                  <a:srgbClr val="5B6472"/>
                </a:solidFill>
                <a:latin typeface="Cambria" pitchFamily="34" charset="0"/>
                <a:ea typeface="Cambria" pitchFamily="34" charset="-122"/>
                <a:cs typeface="Cambria" pitchFamily="34" charset="-120"/>
              </a:rPr>
              <a:t>Frequency-10/50/100, Recency, Last and Average Reuse Distance, Reuse Count — so pages LRU sees as identical become separable.</a:t>
            </a:r>
            <a:endParaRPr lang="en-US" sz="1000" dirty="0"/>
          </a:p>
        </p:txBody>
      </p:sp>
      <p:sp>
        <p:nvSpPr>
          <p:cNvPr id="26" name="Shape 24"/>
          <p:cNvSpPr/>
          <p:nvPr/>
        </p:nvSpPr>
        <p:spPr>
          <a:xfrm>
            <a:off x="6245352" y="3931920"/>
            <a:ext cx="5440680" cy="932688"/>
          </a:xfrm>
          <a:prstGeom prst="roundRect">
            <a:avLst>
              <a:gd name="adj" fmla="val 4902"/>
            </a:avLst>
          </a:prstGeom>
          <a:solidFill>
            <a:srgbClr val="FFFFFF"/>
          </a:solidFill>
          <a:ln w="12700">
            <a:solidFill>
              <a:srgbClr val="DFE4EA"/>
            </a:solidFill>
            <a:prstDash val="solid"/>
          </a:ln>
        </p:spPr>
      </p:sp>
      <p:sp>
        <p:nvSpPr>
          <p:cNvPr id="27" name="Shape 25"/>
          <p:cNvSpPr/>
          <p:nvPr/>
        </p:nvSpPr>
        <p:spPr>
          <a:xfrm>
            <a:off x="6446520" y="4224528"/>
            <a:ext cx="347472" cy="347472"/>
          </a:xfrm>
          <a:prstGeom prst="ellipse">
            <a:avLst/>
          </a:prstGeom>
          <a:solidFill>
            <a:srgbClr val="1C7293"/>
          </a:solidFill>
          <a:ln/>
        </p:spPr>
      </p:sp>
      <p:sp>
        <p:nvSpPr>
          <p:cNvPr id="28" name="Text 26"/>
          <p:cNvSpPr txBox="1"/>
          <p:nvPr/>
        </p:nvSpPr>
        <p:spPr>
          <a:xfrm>
            <a:off x="6446520" y="42245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9" name="Text 27"/>
          <p:cNvSpPr txBox="1"/>
          <p:nvPr/>
        </p:nvSpPr>
        <p:spPr>
          <a:xfrm>
            <a:off x="6931152" y="4059936"/>
            <a:ext cx="4572000" cy="237744"/>
          </a:xfrm>
          <a:prstGeom prst="rect">
            <a:avLst/>
          </a:prstGeom>
          <a:noFill/>
          <a:ln/>
        </p:spPr>
        <p:txBody>
          <a:bodyPr wrap="square" lIns="0" tIns="0" rIns="0" bIns="0" rtlCol="0" anchor="ctr"/>
          <a:lstStyle/>
          <a:p>
            <a:pPr indent="0" marL="0">
              <a:buNone/>
            </a:pPr>
            <a:r>
              <a:rPr lang="en-US" sz="1200" b="1" dirty="0">
                <a:solidFill>
                  <a:srgbClr val="0F2942"/>
                </a:solidFill>
                <a:latin typeface="Cambria" pitchFamily="34" charset="0"/>
                <a:ea typeface="Cambria" pitchFamily="34" charset="-122"/>
                <a:cs typeface="Cambria" pitchFamily="34" charset="-120"/>
              </a:rPr>
              <a:t>Eviction, not placement</a:t>
            </a:r>
            <a:endParaRPr lang="en-US" sz="1200" dirty="0"/>
          </a:p>
        </p:txBody>
      </p:sp>
      <p:sp>
        <p:nvSpPr>
          <p:cNvPr id="30" name="Text 28"/>
          <p:cNvSpPr txBox="1"/>
          <p:nvPr/>
        </p:nvSpPr>
        <p:spPr>
          <a:xfrm>
            <a:off x="6931152" y="4315968"/>
            <a:ext cx="4572000" cy="457200"/>
          </a:xfrm>
          <a:prstGeom prst="rect">
            <a:avLst/>
          </a:prstGeom>
          <a:noFill/>
          <a:ln/>
        </p:spPr>
        <p:txBody>
          <a:bodyPr wrap="square" lIns="0" tIns="0" rIns="0" bIns="0" rtlCol="0" anchor="t"/>
          <a:lstStyle/>
          <a:p>
            <a:pPr indent="0" marL="0">
              <a:lnSpc>
                <a:spcPts val="1300"/>
              </a:lnSpc>
              <a:buNone/>
            </a:pPr>
            <a:r>
              <a:rPr lang="en-US" sz="1000" dirty="0">
                <a:solidFill>
                  <a:srgbClr val="5B6472"/>
                </a:solidFill>
                <a:latin typeface="Cambria" pitchFamily="34" charset="0"/>
                <a:ea typeface="Cambria" pitchFamily="34" charset="-122"/>
                <a:cs typeface="Cambria" pitchFamily="34" charset="-120"/>
              </a:rPr>
              <a:t>The output is a victim choice under memory pressure — the decision Paper 10 leaves open.</a:t>
            </a:r>
            <a:endParaRPr lang="en-US" sz="1000" dirty="0"/>
          </a:p>
        </p:txBody>
      </p:sp>
      <p:sp>
        <p:nvSpPr>
          <p:cNvPr id="31" name="Shape 29"/>
          <p:cNvSpPr/>
          <p:nvPr/>
        </p:nvSpPr>
        <p:spPr>
          <a:xfrm>
            <a:off x="6245352" y="5010912"/>
            <a:ext cx="5440680" cy="932688"/>
          </a:xfrm>
          <a:prstGeom prst="roundRect">
            <a:avLst>
              <a:gd name="adj" fmla="val 4902"/>
            </a:avLst>
          </a:prstGeom>
          <a:solidFill>
            <a:srgbClr val="FFFFFF"/>
          </a:solidFill>
          <a:ln w="12700">
            <a:solidFill>
              <a:srgbClr val="DFE4EA"/>
            </a:solidFill>
            <a:prstDash val="solid"/>
          </a:ln>
        </p:spPr>
      </p:sp>
      <p:sp>
        <p:nvSpPr>
          <p:cNvPr id="32" name="Shape 30"/>
          <p:cNvSpPr/>
          <p:nvPr/>
        </p:nvSpPr>
        <p:spPr>
          <a:xfrm>
            <a:off x="6446520" y="5303520"/>
            <a:ext cx="347472" cy="347472"/>
          </a:xfrm>
          <a:prstGeom prst="ellipse">
            <a:avLst/>
          </a:prstGeom>
          <a:solidFill>
            <a:srgbClr val="1C7293"/>
          </a:solidFill>
          <a:ln/>
        </p:spPr>
      </p:sp>
      <p:sp>
        <p:nvSpPr>
          <p:cNvPr id="33" name="Text 31"/>
          <p:cNvSpPr txBox="1"/>
          <p:nvPr/>
        </p:nvSpPr>
        <p:spPr>
          <a:xfrm>
            <a:off x="6446520" y="53035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34" name="Text 32"/>
          <p:cNvSpPr txBox="1"/>
          <p:nvPr/>
        </p:nvSpPr>
        <p:spPr>
          <a:xfrm>
            <a:off x="6931152" y="5138928"/>
            <a:ext cx="4572000" cy="237744"/>
          </a:xfrm>
          <a:prstGeom prst="rect">
            <a:avLst/>
          </a:prstGeom>
          <a:noFill/>
          <a:ln/>
        </p:spPr>
        <p:txBody>
          <a:bodyPr wrap="square" lIns="0" tIns="0" rIns="0" bIns="0" rtlCol="0" anchor="ctr"/>
          <a:lstStyle/>
          <a:p>
            <a:pPr indent="0" marL="0">
              <a:buNone/>
            </a:pPr>
            <a:r>
              <a:rPr lang="en-US" sz="1200" b="1" dirty="0">
                <a:solidFill>
                  <a:srgbClr val="0F2942"/>
                </a:solidFill>
                <a:latin typeface="Cambria" pitchFamily="34" charset="0"/>
                <a:ea typeface="Cambria" pitchFamily="34" charset="-122"/>
                <a:cs typeface="Cambria" pitchFamily="34" charset="-120"/>
              </a:rPr>
              <a:t>Lightweight and live</a:t>
            </a:r>
            <a:endParaRPr lang="en-US" sz="1200" dirty="0"/>
          </a:p>
        </p:txBody>
      </p:sp>
      <p:sp>
        <p:nvSpPr>
          <p:cNvPr id="35" name="Text 33"/>
          <p:cNvSpPr txBox="1"/>
          <p:nvPr/>
        </p:nvSpPr>
        <p:spPr>
          <a:xfrm>
            <a:off x="6931152" y="5394960"/>
            <a:ext cx="4572000" cy="457200"/>
          </a:xfrm>
          <a:prstGeom prst="rect">
            <a:avLst/>
          </a:prstGeom>
          <a:noFill/>
          <a:ln/>
        </p:spPr>
        <p:txBody>
          <a:bodyPr wrap="square" lIns="0" tIns="0" rIns="0" bIns="0" rtlCol="0" anchor="t"/>
          <a:lstStyle/>
          <a:p>
            <a:pPr indent="0" marL="0">
              <a:lnSpc>
                <a:spcPts val="1300"/>
              </a:lnSpc>
              <a:buNone/>
            </a:pPr>
            <a:r>
              <a:rPr lang="en-US" sz="1000" dirty="0">
                <a:solidFill>
                  <a:srgbClr val="5B6472"/>
                </a:solidFill>
                <a:latin typeface="Cambria" pitchFamily="34" charset="0"/>
                <a:ea typeface="Cambria" pitchFamily="34" charset="-122"/>
                <a:cs typeface="Cambria" pitchFamily="34" charset="-120"/>
              </a:rPr>
              <a:t>A cheap scoring engine, not a neural network, reading Linux /proc telemetry at runtime with no kernel modification.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6419088"/>
            <a:ext cx="7772400" cy="228600"/>
          </a:xfrm>
          <a:prstGeom prst="rect">
            <a:avLst/>
          </a:prstGeom>
          <a:noFill/>
          <a:ln/>
        </p:spPr>
        <p:txBody>
          <a:bodyPr wrap="square" lIns="0" tIns="0" rIns="0" bIns="0" rtlCol="0" anchor="ctr"/>
          <a:lstStyle/>
          <a:p>
            <a:pPr indent="0" marL="0">
              <a:buNone/>
            </a:pPr>
            <a:r>
              <a:rPr lang="en-US" sz="900" dirty="0">
                <a:solidFill>
                  <a:srgbClr val="9AA5B1"/>
                </a:solidFill>
                <a:latin typeface="Cambria" pitchFamily="34" charset="0"/>
                <a:ea typeface="Cambria" pitchFamily="34" charset="-122"/>
                <a:cs typeface="Cambria" pitchFamily="34" charset="-120"/>
              </a:rPr>
              <a:t>Team-8  |  AIPage: AI-Assisted Page Prediction &amp; Virtual Memory Management</a:t>
            </a:r>
            <a:endParaRPr lang="en-US" sz="900" dirty="0"/>
          </a:p>
        </p:txBody>
      </p:sp>
      <p:sp>
        <p:nvSpPr>
          <p:cNvPr id="3" name="Text 1"/>
          <p:cNvSpPr txBox="1"/>
          <p:nvPr/>
        </p:nvSpPr>
        <p:spPr>
          <a:xfrm>
            <a:off x="10332720" y="6419088"/>
            <a:ext cx="1417320" cy="228600"/>
          </a:xfrm>
          <a:prstGeom prst="rect">
            <a:avLst/>
          </a:prstGeom>
          <a:noFill/>
          <a:ln/>
        </p:spPr>
        <p:txBody>
          <a:bodyPr wrap="square" lIns="0" tIns="0" rIns="0" bIns="0" rtlCol="0" anchor="ctr"/>
          <a:lstStyle/>
          <a:p>
            <a:pPr algn="r" indent="0" marL="0">
              <a:buNone/>
            </a:pPr>
            <a:r>
              <a:rPr lang="en-US" sz="900" dirty="0">
                <a:solidFill>
                  <a:srgbClr val="9AA5B1"/>
                </a:solidFill>
                <a:latin typeface="Cambria" pitchFamily="34" charset="0"/>
                <a:ea typeface="Cambria" pitchFamily="34" charset="-122"/>
                <a:cs typeface="Cambria" pitchFamily="34" charset="-120"/>
              </a:rPr>
              <a:t>07 / 07</a:t>
            </a:r>
            <a:endParaRPr lang="en-US" sz="900" dirty="0"/>
          </a:p>
        </p:txBody>
      </p:sp>
      <p:sp>
        <p:nvSpPr>
          <p:cNvPr id="4" name="Text 2"/>
          <p:cNvSpPr txBox="1"/>
          <p:nvPr/>
        </p:nvSpPr>
        <p:spPr>
          <a:xfrm>
            <a:off x="502920" y="347472"/>
            <a:ext cx="3657600"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mbria" pitchFamily="34" charset="0"/>
                <a:ea typeface="Cambria" pitchFamily="34" charset="-122"/>
                <a:cs typeface="Cambria" pitchFamily="34" charset="-120"/>
              </a:rPr>
              <a:t>REVIEW-2</a:t>
            </a:r>
            <a:endParaRPr lang="en-US" sz="1050" dirty="0"/>
          </a:p>
        </p:txBody>
      </p:sp>
      <p:sp>
        <p:nvSpPr>
          <p:cNvPr id="5" name="Text 3"/>
          <p:cNvSpPr txBox="1"/>
          <p:nvPr/>
        </p:nvSpPr>
        <p:spPr>
          <a:xfrm>
            <a:off x="502920" y="603504"/>
            <a:ext cx="11155680" cy="548640"/>
          </a:xfrm>
          <a:prstGeom prst="rect">
            <a:avLst/>
          </a:prstGeom>
          <a:noFill/>
          <a:ln/>
        </p:spPr>
        <p:txBody>
          <a:bodyPr wrap="square" lIns="0" tIns="0" rIns="0" bIns="0" rtlCol="0" anchor="ctr"/>
          <a:lstStyle/>
          <a:p>
            <a:pPr indent="0" marL="0">
              <a:buNone/>
            </a:pPr>
            <a:r>
              <a:rPr lang="en-US" sz="2900" dirty="0">
                <a:solidFill>
                  <a:srgbClr val="0F2942"/>
                </a:solidFill>
                <a:latin typeface="Cambria" pitchFamily="34" charset="0"/>
                <a:ea typeface="Cambria" pitchFamily="34" charset="-122"/>
                <a:cs typeface="Cambria" pitchFamily="34" charset="-120"/>
              </a:rPr>
              <a:t>References</a:t>
            </a:r>
            <a:endParaRPr lang="en-US" sz="2900" dirty="0"/>
          </a:p>
        </p:txBody>
      </p:sp>
      <p:sp>
        <p:nvSpPr>
          <p:cNvPr id="6" name="Text 4"/>
          <p:cNvSpPr txBox="1"/>
          <p:nvPr/>
        </p:nvSpPr>
        <p:spPr>
          <a:xfrm>
            <a:off x="502920" y="1188720"/>
            <a:ext cx="11155680" cy="237744"/>
          </a:xfrm>
          <a:prstGeom prst="rect">
            <a:avLst/>
          </a:prstGeom>
          <a:noFill/>
          <a:ln/>
        </p:spPr>
        <p:txBody>
          <a:bodyPr wrap="square" lIns="0" tIns="0" rIns="0" bIns="0" rtlCol="0" anchor="ctr"/>
          <a:lstStyle/>
          <a:p>
            <a:pPr indent="0" marL="0">
              <a:buNone/>
            </a:pPr>
            <a:r>
              <a:rPr lang="en-US" sz="1100" i="1" dirty="0">
                <a:solidFill>
                  <a:srgbClr val="5B6472"/>
                </a:solidFill>
                <a:latin typeface="Cambria" pitchFamily="34" charset="0"/>
                <a:ea typeface="Cambria" pitchFamily="34" charset="-122"/>
                <a:cs typeface="Cambria" pitchFamily="34" charset="-120"/>
              </a:rPr>
              <a:t>All ten entries verified against publisher records. Titles are clickable.</a:t>
            </a:r>
            <a:endParaRPr lang="en-US" sz="1100" dirty="0"/>
          </a:p>
        </p:txBody>
      </p:sp>
      <p:sp>
        <p:nvSpPr>
          <p:cNvPr id="7" name="Text 5"/>
          <p:cNvSpPr txBox="1"/>
          <p:nvPr/>
        </p:nvSpPr>
        <p:spPr>
          <a:xfrm>
            <a:off x="502920" y="1572768"/>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[1]</a:t>
            </a:r>
            <a:endParaRPr lang="en-US" sz="1050" dirty="0"/>
          </a:p>
        </p:txBody>
      </p:sp>
      <p:sp>
        <p:nvSpPr>
          <p:cNvPr id="8" name="Text 6"/>
          <p:cNvSpPr txBox="1"/>
          <p:nvPr/>
        </p:nvSpPr>
        <p:spPr>
          <a:xfrm>
            <a:off x="914400" y="1554480"/>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L. A. Belady, “A Study of Replacement Algorithms for a Virtual-Storage Computer,” IBM Systems Journal, vol. 5, no. 2, pp. 78–101, 1966.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doi.org/10.1147/sj.52.0078</a:t>
            </a:r>
            <a:endParaRPr lang="en-US" sz="950" dirty="0"/>
          </a:p>
        </p:txBody>
      </p:sp>
      <p:sp>
        <p:nvSpPr>
          <p:cNvPr id="9" name="Text 7"/>
          <p:cNvSpPr txBox="1"/>
          <p:nvPr/>
        </p:nvSpPr>
        <p:spPr>
          <a:xfrm>
            <a:off x="502920" y="2048256"/>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[2]</a:t>
            </a:r>
            <a:endParaRPr lang="en-US" sz="1050" dirty="0"/>
          </a:p>
        </p:txBody>
      </p:sp>
      <p:sp>
        <p:nvSpPr>
          <p:cNvPr id="10" name="Text 8"/>
          <p:cNvSpPr txBox="1"/>
          <p:nvPr/>
        </p:nvSpPr>
        <p:spPr>
          <a:xfrm>
            <a:off x="914400" y="2029968"/>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N. Megiddo and D. S. Modha, “ARC: A Self-Tuning, Low Overhead Replacement Cache,” in Proc. 2nd USENIX Conf. on File and Storage Technologies (FAST), 2003, pp. 115–130.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usenix.org/legacy/event/fast03/tech/megiddo.html</a:t>
            </a:r>
            <a:endParaRPr lang="en-US" sz="950" dirty="0"/>
          </a:p>
        </p:txBody>
      </p:sp>
      <p:sp>
        <p:nvSpPr>
          <p:cNvPr id="11" name="Text 9"/>
          <p:cNvSpPr txBox="1"/>
          <p:nvPr/>
        </p:nvSpPr>
        <p:spPr>
          <a:xfrm>
            <a:off x="502920" y="2523744"/>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[3]</a:t>
            </a:r>
            <a:endParaRPr lang="en-US" sz="1050" dirty="0"/>
          </a:p>
        </p:txBody>
      </p:sp>
      <p:sp>
        <p:nvSpPr>
          <p:cNvPr id="12" name="Text 10"/>
          <p:cNvSpPr txBox="1"/>
          <p:nvPr/>
        </p:nvSpPr>
        <p:spPr>
          <a:xfrm>
            <a:off x="914400" y="2505456"/>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S. Jiang and X. Zhang, “LIRS: An Efficient Low Inter-Reference Recency Set Replacement Policy to Improve Buffer Cache Performance,” in Proc. ACM SIGMETRICS, 2002, pp. 31–42.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doi.org/10.1145/511334.511340</a:t>
            </a:r>
            <a:endParaRPr lang="en-US" sz="950" dirty="0"/>
          </a:p>
        </p:txBody>
      </p:sp>
      <p:sp>
        <p:nvSpPr>
          <p:cNvPr id="13" name="Text 11"/>
          <p:cNvSpPr txBox="1"/>
          <p:nvPr/>
        </p:nvSpPr>
        <p:spPr>
          <a:xfrm>
            <a:off x="502920" y="2999232"/>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[4]</a:t>
            </a:r>
            <a:endParaRPr lang="en-US" sz="1050" dirty="0"/>
          </a:p>
        </p:txBody>
      </p:sp>
      <p:sp>
        <p:nvSpPr>
          <p:cNvPr id="14" name="Text 12"/>
          <p:cNvSpPr txBox="1"/>
          <p:nvPr/>
        </p:nvSpPr>
        <p:spPr>
          <a:xfrm>
            <a:off x="914400" y="2980944"/>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C. Ding and Y. Zhong, “Predicting Whole-Program Locality through Reuse Distance Analysis,” in Proc. ACM SIGPLAN PLDI, 2003, pp. 245–257.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doi.org/10.1145/781131.781159</a:t>
            </a:r>
            <a:endParaRPr lang="en-US" sz="950" dirty="0"/>
          </a:p>
        </p:txBody>
      </p:sp>
      <p:sp>
        <p:nvSpPr>
          <p:cNvPr id="15" name="Text 13"/>
          <p:cNvSpPr txBox="1"/>
          <p:nvPr/>
        </p:nvSpPr>
        <p:spPr>
          <a:xfrm>
            <a:off x="502920" y="3474720"/>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[5]</a:t>
            </a:r>
            <a:endParaRPr lang="en-US" sz="1050" dirty="0"/>
          </a:p>
        </p:txBody>
      </p:sp>
      <p:sp>
        <p:nvSpPr>
          <p:cNvPr id="16" name="Text 14"/>
          <p:cNvSpPr txBox="1"/>
          <p:nvPr/>
        </p:nvSpPr>
        <p:spPr>
          <a:xfrm>
            <a:off x="914400" y="3456432"/>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G. Keramidas, P. Petoumenos and S. Kaxiras, “Cache Replacement Based on Reuse-Distance Prediction,” in Proc. 25th IEEE Int. Conf. on Computer Design (ICCD), 2007, pp. 245–250.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doi.org/10.1109/ICCD.2007.4601909</a:t>
            </a:r>
            <a:endParaRPr lang="en-US" sz="950" dirty="0"/>
          </a:p>
        </p:txBody>
      </p:sp>
      <p:sp>
        <p:nvSpPr>
          <p:cNvPr id="17" name="Text 15"/>
          <p:cNvSpPr txBox="1"/>
          <p:nvPr/>
        </p:nvSpPr>
        <p:spPr>
          <a:xfrm>
            <a:off x="502920" y="3950208"/>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[6]</a:t>
            </a:r>
            <a:endParaRPr lang="en-US" sz="1050" dirty="0"/>
          </a:p>
        </p:txBody>
      </p:sp>
      <p:sp>
        <p:nvSpPr>
          <p:cNvPr id="18" name="Text 16"/>
          <p:cNvSpPr txBox="1"/>
          <p:nvPr/>
        </p:nvSpPr>
        <p:spPr>
          <a:xfrm>
            <a:off x="914400" y="3931920"/>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A. Jain and C. Lin, “Back to the Future: Leveraging Belady’s Algorithm for Improved Cache Replacement,” in Proc. 43rd ACM/IEEE Int. Symp. on Computer Architecture (ISCA), 2016, pp. 78–89.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doi.org/10.1109/ISCA.2016.17</a:t>
            </a:r>
            <a:endParaRPr lang="en-US" sz="950" dirty="0"/>
          </a:p>
        </p:txBody>
      </p:sp>
      <p:sp>
        <p:nvSpPr>
          <p:cNvPr id="19" name="Text 17"/>
          <p:cNvSpPr txBox="1"/>
          <p:nvPr/>
        </p:nvSpPr>
        <p:spPr>
          <a:xfrm>
            <a:off x="502920" y="4425696"/>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[7]</a:t>
            </a:r>
            <a:endParaRPr lang="en-US" sz="1050" dirty="0"/>
          </a:p>
        </p:txBody>
      </p:sp>
      <p:sp>
        <p:nvSpPr>
          <p:cNvPr id="20" name="Text 18"/>
          <p:cNvSpPr txBox="1"/>
          <p:nvPr/>
        </p:nvSpPr>
        <p:spPr>
          <a:xfrm>
            <a:off x="914400" y="4407408"/>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M. Hashemi, K. Swersky, J. A. Smith, G. Ayers, H. Litz, J. Chang, C. Kozyrakis and P. Ranganathan, “Learning Memory Access Patterns,” in Proc. 35th ICML, PMLR 80, 2018, pp. 1919–1928.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proceedings.mlr.press/v80/hashemi18a.html</a:t>
            </a:r>
            <a:endParaRPr lang="en-US" sz="950" dirty="0"/>
          </a:p>
        </p:txBody>
      </p:sp>
      <p:sp>
        <p:nvSpPr>
          <p:cNvPr id="21" name="Text 19"/>
          <p:cNvSpPr txBox="1"/>
          <p:nvPr/>
        </p:nvSpPr>
        <p:spPr>
          <a:xfrm>
            <a:off x="502920" y="4901184"/>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[8]</a:t>
            </a:r>
            <a:endParaRPr lang="en-US" sz="1050" dirty="0"/>
          </a:p>
        </p:txBody>
      </p:sp>
      <p:sp>
        <p:nvSpPr>
          <p:cNvPr id="22" name="Text 20"/>
          <p:cNvSpPr txBox="1"/>
          <p:nvPr/>
        </p:nvSpPr>
        <p:spPr>
          <a:xfrm>
            <a:off x="914400" y="4882896"/>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Z. Shi, X. Huang, A. Jain and C. Lin, “Applying Deep Learning to the Cache Replacement Problem,” in Proc. 52nd IEEE/ACM Int. Symp. on Microarchitecture (MICRO-52), 2019, pp. 413–425.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doi.org/10.1145/3352460.3358319</a:t>
            </a:r>
            <a:endParaRPr lang="en-US" sz="950" dirty="0"/>
          </a:p>
        </p:txBody>
      </p:sp>
      <p:sp>
        <p:nvSpPr>
          <p:cNvPr id="23" name="Text 21"/>
          <p:cNvSpPr txBox="1"/>
          <p:nvPr/>
        </p:nvSpPr>
        <p:spPr>
          <a:xfrm>
            <a:off x="502920" y="5376672"/>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[9]</a:t>
            </a:r>
            <a:endParaRPr lang="en-US" sz="1050" dirty="0"/>
          </a:p>
        </p:txBody>
      </p:sp>
      <p:sp>
        <p:nvSpPr>
          <p:cNvPr id="24" name="Text 22"/>
          <p:cNvSpPr txBox="1"/>
          <p:nvPr/>
        </p:nvSpPr>
        <p:spPr>
          <a:xfrm>
            <a:off x="914400" y="5358384"/>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E. Z. Liu, M. Hashemi, K. Swersky, P. Ranganathan and J. Ahn, “An Imitation Learning Approach for Cache Replacement,” in Proc. 37th ICML, PMLR 119, 2020, pp. 6237–6247.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proceedings.mlr.press/v119/liu20f.html</a:t>
            </a:r>
            <a:endParaRPr lang="en-US" sz="950" dirty="0"/>
          </a:p>
        </p:txBody>
      </p:sp>
      <p:sp>
        <p:nvSpPr>
          <p:cNvPr id="25" name="Text 23"/>
          <p:cNvSpPr txBox="1"/>
          <p:nvPr/>
        </p:nvSpPr>
        <p:spPr>
          <a:xfrm>
            <a:off x="502920" y="5852160"/>
            <a:ext cx="411480" cy="219456"/>
          </a:xfrm>
          <a:prstGeom prst="rect">
            <a:avLst/>
          </a:prstGeom>
          <a:noFill/>
          <a:ln/>
        </p:spPr>
        <p:txBody>
          <a:bodyPr wrap="square" lIns="0" tIns="0" rIns="0" bIns="0" rtlCol="0" anchor="ctr"/>
          <a:lstStyle/>
          <a:p>
            <a:pPr indent="0" marL="0">
              <a:buNone/>
            </a:pPr>
            <a:r>
              <a:rPr lang="en-US" sz="1050" b="1" dirty="0">
                <a:solidFill>
                  <a:srgbClr val="1C7293"/>
                </a:solidFill>
                <a:latin typeface="Cambria" pitchFamily="34" charset="0"/>
                <a:ea typeface="Cambria" pitchFamily="34" charset="-122"/>
                <a:cs typeface="Cambria" pitchFamily="34" charset="-120"/>
              </a:rPr>
              <a:t>[10]</a:t>
            </a:r>
            <a:endParaRPr lang="en-US" sz="1050" dirty="0"/>
          </a:p>
        </p:txBody>
      </p:sp>
      <p:sp>
        <p:nvSpPr>
          <p:cNvPr id="26" name="Text 24"/>
          <p:cNvSpPr txBox="1"/>
          <p:nvPr/>
        </p:nvSpPr>
        <p:spPr>
          <a:xfrm>
            <a:off x="914400" y="5833872"/>
            <a:ext cx="10771632" cy="420624"/>
          </a:xfrm>
          <a:prstGeom prst="rect">
            <a:avLst/>
          </a:prstGeom>
          <a:noFill/>
          <a:ln/>
        </p:spPr>
        <p:txBody>
          <a:bodyPr wrap="square" lIns="0" tIns="0" rIns="0" bIns="0" rtlCol="0" anchor="t"/>
          <a:lstStyle/>
          <a:p>
            <a:pPr indent="0" marL="0">
              <a:lnSpc>
                <a:spcPts val="1200"/>
              </a:lnSpc>
              <a:buNone/>
            </a:pPr>
            <a:r>
              <a:rPr lang="en-US" sz="950" dirty="0">
                <a:solidFill>
                  <a:srgbClr val="1F2937"/>
                </a:solidFill>
                <a:latin typeface="Cambria" pitchFamily="34" charset="0"/>
                <a:ea typeface="Cambria" pitchFamily="34" charset="-122"/>
                <a:cs typeface="Cambria" pitchFamily="34" charset="-120"/>
              </a:rPr>
              <a:t>T. D. Doudali, S. Blagodurov, A. Vishnu, S. Gurumurthi and A. Gavrilovska, “Kleio: A Hybrid Memory Page Scheduler with Machine Intelligence,” in Proc. 28th ACM HPDC, 2019, pp. 37–48.  </a:t>
            </a:r>
            <a:pPr indent="0" marL="0">
              <a:lnSpc>
                <a:spcPts val="1200"/>
              </a:lnSpc>
              <a:buNone/>
            </a:pPr>
            <a:r>
              <a:rPr lang="en-US" sz="950" u="sng" dirty="0">
                <a:solidFill>
                  <a:srgbClr val="0563C1"/>
                </a:solidFill>
                <a:latin typeface="Cambria" pitchFamily="34" charset="0"/>
                <a:ea typeface="Cambria" pitchFamily="34" charset="-122"/>
                <a:cs typeface="Cambria"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doi.org/10.1145/3307681.3325398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AIPage — Review-2 Literature Review</dc:title>
  <dc:subject>PptxGenJS Presentation</dc:subject>
  <dc:creator>TEAM-8</dc:creator>
  <cp:lastModifiedBy>TEAM-8</cp:lastModifiedBy>
  <cp:revision>1</cp:revision>
  <dcterms:created xsi:type="dcterms:W3CDTF">2026-09-15T04:24:13Z</dcterms:created>
  <dcterms:modified xsi:type="dcterms:W3CDTF">2026-09-15T04:24:13Z</dcterms:modified>
</cp:coreProperties>
</file>