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81" y="6232199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9692640" y="-1463040"/>
            <a:ext cx="4754887" cy="475488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" name="Shape 1"/>
          <p:cNvSpPr/>
          <p:nvPr/>
        </p:nvSpPr>
        <p:spPr>
          <a:xfrm>
            <a:off x="-1645923" y="5120640"/>
            <a:ext cx="4206246" cy="4206247"/>
          </a:xfrm>
          <a:prstGeom prst="ellipse">
            <a:avLst/>
          </a:prstGeom>
          <a:solidFill>
            <a:srgbClr val="6C4AB6">
              <a:alpha val="22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" name="Text 2"/>
          <p:cNvSpPr txBox="1"/>
          <p:nvPr/>
        </p:nvSpPr>
        <p:spPr>
          <a:xfrm>
            <a:off x="822960" y="1151059"/>
            <a:ext cx="9144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8FD3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OSSP FINAL PROJECT REVIEW  •  TEAM-8</a:t>
            </a:r>
          </a:p>
        </p:txBody>
      </p:sp>
      <p:sp>
        <p:nvSpPr>
          <p:cNvPr id="30" name="Text 3"/>
          <p:cNvSpPr txBox="1"/>
          <p:nvPr/>
        </p:nvSpPr>
        <p:spPr>
          <a:xfrm>
            <a:off x="777238" y="1579878"/>
            <a:ext cx="10607045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AIPage</a:t>
            </a:r>
          </a:p>
        </p:txBody>
      </p:sp>
      <p:sp>
        <p:nvSpPr>
          <p:cNvPr id="31" name="Text 4"/>
          <p:cNvSpPr txBox="1"/>
          <p:nvPr/>
        </p:nvSpPr>
        <p:spPr>
          <a:xfrm>
            <a:off x="822960" y="2664548"/>
            <a:ext cx="100584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C9DC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AI-Assisted Page Prediction and Virtual Memory Management</a:t>
            </a:r>
          </a:p>
        </p:txBody>
      </p:sp>
      <p:sp>
        <p:nvSpPr>
          <p:cNvPr id="32" name="Shape 5"/>
          <p:cNvSpPr/>
          <p:nvPr/>
        </p:nvSpPr>
        <p:spPr>
          <a:xfrm>
            <a:off x="822958" y="3246120"/>
            <a:ext cx="2743205" cy="4"/>
          </a:xfrm>
          <a:prstGeom prst="line">
            <a:avLst/>
          </a:prstGeom>
          <a:ln w="254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" name="Shape 6"/>
          <p:cNvSpPr/>
          <p:nvPr/>
        </p:nvSpPr>
        <p:spPr>
          <a:xfrm>
            <a:off x="822960" y="3611879"/>
            <a:ext cx="5852160" cy="1965964"/>
          </a:xfrm>
          <a:prstGeom prst="roundRect">
            <a:avLst>
              <a:gd name="adj" fmla="val 4186"/>
            </a:avLst>
          </a:prstGeom>
          <a:solidFill>
            <a:srgbClr val="16324F"/>
          </a:solidFill>
          <a:ln w="12700">
            <a:solidFill>
              <a:srgbClr val="23486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" name="Text 7"/>
          <p:cNvSpPr txBox="1"/>
          <p:nvPr/>
        </p:nvSpPr>
        <p:spPr>
          <a:xfrm>
            <a:off x="1097278" y="3826054"/>
            <a:ext cx="2743205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</a:t>
            </a:r>
          </a:p>
        </p:txBody>
      </p:sp>
      <p:sp>
        <p:nvSpPr>
          <p:cNvPr id="35" name="Text 8"/>
          <p:cNvSpPr txBox="1"/>
          <p:nvPr/>
        </p:nvSpPr>
        <p:spPr>
          <a:xfrm>
            <a:off x="1097278" y="4294439"/>
            <a:ext cx="256032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●  Shrenika Reddy - 2510030022</a:t>
            </a:r>
          </a:p>
        </p:txBody>
      </p:sp>
      <p:sp>
        <p:nvSpPr>
          <p:cNvPr id="36" name="Text 9"/>
          <p:cNvSpPr txBox="1"/>
          <p:nvPr/>
        </p:nvSpPr>
        <p:spPr>
          <a:xfrm>
            <a:off x="3840479" y="4294439"/>
            <a:ext cx="256032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marL="140367" indent="-140367">
              <a:buSzPct val="100000"/>
              <a:buChar char="●"/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 Aswani Gayatri - 2510030421</a:t>
            </a:r>
          </a:p>
        </p:txBody>
      </p:sp>
      <p:sp>
        <p:nvSpPr>
          <p:cNvPr id="37" name="Text 10"/>
          <p:cNvSpPr txBox="1"/>
          <p:nvPr/>
        </p:nvSpPr>
        <p:spPr>
          <a:xfrm>
            <a:off x="1097278" y="4861366"/>
            <a:ext cx="256032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●  A Pavan Reddy - 2510030393</a:t>
            </a:r>
          </a:p>
        </p:txBody>
      </p:sp>
      <p:sp>
        <p:nvSpPr>
          <p:cNvPr id="38" name="Text 11"/>
          <p:cNvSpPr txBox="1"/>
          <p:nvPr/>
        </p:nvSpPr>
        <p:spPr>
          <a:xfrm>
            <a:off x="3840479" y="4747066"/>
            <a:ext cx="2560324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●  Mohd Abdul Aiyaan -  2510030309</a:t>
            </a:r>
          </a:p>
        </p:txBody>
      </p:sp>
      <p:sp>
        <p:nvSpPr>
          <p:cNvPr id="39" name="Shape 12"/>
          <p:cNvSpPr/>
          <p:nvPr/>
        </p:nvSpPr>
        <p:spPr>
          <a:xfrm>
            <a:off x="6949440" y="3611879"/>
            <a:ext cx="4434844" cy="1965964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0" name="Text 13"/>
          <p:cNvSpPr txBox="1"/>
          <p:nvPr/>
        </p:nvSpPr>
        <p:spPr>
          <a:xfrm>
            <a:off x="7178040" y="4461509"/>
            <a:ext cx="3977643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Learn  →  Predict  →  Manage Proactively</a:t>
            </a:r>
          </a:p>
        </p:txBody>
      </p:sp>
      <p:sp>
        <p:nvSpPr>
          <p:cNvPr id="41" name="Text 14"/>
          <p:cNvSpPr txBox="1"/>
          <p:nvPr/>
        </p:nvSpPr>
        <p:spPr>
          <a:xfrm>
            <a:off x="822960" y="6082205"/>
            <a:ext cx="10515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9FB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Review-4—  Continuation of Review-2 (Literature Review,Gap Analysis)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FB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43" name="Text 16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FB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01 /10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46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Proposed Methodology</a:t>
            </a:r>
          </a:p>
        </p:txBody>
      </p:sp>
      <p:sp>
        <p:nvSpPr>
          <p:cNvPr id="47" name="Shape 2"/>
          <p:cNvSpPr/>
          <p:nvPr/>
        </p:nvSpPr>
        <p:spPr>
          <a:xfrm>
            <a:off x="502919" y="1325880"/>
            <a:ext cx="2514601" cy="566930"/>
          </a:xfrm>
          <a:prstGeom prst="roundRect">
            <a:avLst>
              <a:gd name="adj" fmla="val 1129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" name="Text 3"/>
          <p:cNvSpPr txBox="1"/>
          <p:nvPr/>
        </p:nvSpPr>
        <p:spPr>
          <a:xfrm>
            <a:off x="548640" y="1540807"/>
            <a:ext cx="2423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Linux Process</a:t>
            </a:r>
          </a:p>
        </p:txBody>
      </p:sp>
      <p:sp>
        <p:nvSpPr>
          <p:cNvPr id="49" name="Shape 4"/>
          <p:cNvSpPr/>
          <p:nvPr/>
        </p:nvSpPr>
        <p:spPr>
          <a:xfrm>
            <a:off x="3044949" y="1527047"/>
            <a:ext cx="201172" cy="1645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47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" name="Shape 5"/>
          <p:cNvSpPr/>
          <p:nvPr/>
        </p:nvSpPr>
        <p:spPr>
          <a:xfrm>
            <a:off x="3273552" y="1325880"/>
            <a:ext cx="2514604" cy="566930"/>
          </a:xfrm>
          <a:prstGeom prst="roundRect">
            <a:avLst>
              <a:gd name="adj" fmla="val 1129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" name="Text 6"/>
          <p:cNvSpPr txBox="1"/>
          <p:nvPr/>
        </p:nvSpPr>
        <p:spPr>
          <a:xfrm>
            <a:off x="3319271" y="1540807"/>
            <a:ext cx="24231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/proc Telemetry</a:t>
            </a:r>
          </a:p>
        </p:txBody>
      </p:sp>
      <p:sp>
        <p:nvSpPr>
          <p:cNvPr id="52" name="Shape 7"/>
          <p:cNvSpPr/>
          <p:nvPr/>
        </p:nvSpPr>
        <p:spPr>
          <a:xfrm>
            <a:off x="5815584" y="1527047"/>
            <a:ext cx="201172" cy="1645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47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" name="Shape 8"/>
          <p:cNvSpPr/>
          <p:nvPr/>
        </p:nvSpPr>
        <p:spPr>
          <a:xfrm>
            <a:off x="6044184" y="1325880"/>
            <a:ext cx="2514604" cy="566930"/>
          </a:xfrm>
          <a:prstGeom prst="roundRect">
            <a:avLst>
              <a:gd name="adj" fmla="val 1129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" name="Text 9"/>
          <p:cNvSpPr txBox="1"/>
          <p:nvPr/>
        </p:nvSpPr>
        <p:spPr>
          <a:xfrm>
            <a:off x="6089903" y="1540807"/>
            <a:ext cx="24231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AIPage Monitor</a:t>
            </a:r>
          </a:p>
        </p:txBody>
      </p:sp>
      <p:sp>
        <p:nvSpPr>
          <p:cNvPr id="55" name="Shape 10"/>
          <p:cNvSpPr/>
          <p:nvPr/>
        </p:nvSpPr>
        <p:spPr>
          <a:xfrm>
            <a:off x="8586216" y="1527047"/>
            <a:ext cx="201172" cy="1645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47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" name="Shape 11"/>
          <p:cNvSpPr/>
          <p:nvPr/>
        </p:nvSpPr>
        <p:spPr>
          <a:xfrm>
            <a:off x="8814816" y="1325880"/>
            <a:ext cx="2514604" cy="566930"/>
          </a:xfrm>
          <a:prstGeom prst="roundRect">
            <a:avLst>
              <a:gd name="adj" fmla="val 1129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7" name="Text 12"/>
          <p:cNvSpPr txBox="1"/>
          <p:nvPr/>
        </p:nvSpPr>
        <p:spPr>
          <a:xfrm>
            <a:off x="8860535" y="1540807"/>
            <a:ext cx="24231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Page Access History</a:t>
            </a:r>
          </a:p>
        </p:txBody>
      </p:sp>
      <p:sp>
        <p:nvSpPr>
          <p:cNvPr id="58" name="Shape 13"/>
          <p:cNvSpPr/>
          <p:nvPr/>
        </p:nvSpPr>
        <p:spPr>
          <a:xfrm>
            <a:off x="502919" y="2395727"/>
            <a:ext cx="2514601" cy="566932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9" name="Text 14"/>
          <p:cNvSpPr txBox="1"/>
          <p:nvPr/>
        </p:nvSpPr>
        <p:spPr>
          <a:xfrm>
            <a:off x="548640" y="2610654"/>
            <a:ext cx="24231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Feature Extraction</a:t>
            </a:r>
          </a:p>
        </p:txBody>
      </p:sp>
      <p:sp>
        <p:nvSpPr>
          <p:cNvPr id="60" name="Shape 15"/>
          <p:cNvSpPr/>
          <p:nvPr/>
        </p:nvSpPr>
        <p:spPr>
          <a:xfrm>
            <a:off x="3044949" y="2596894"/>
            <a:ext cx="201172" cy="1645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47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1" name="Shape 16"/>
          <p:cNvSpPr/>
          <p:nvPr/>
        </p:nvSpPr>
        <p:spPr>
          <a:xfrm>
            <a:off x="3273552" y="2395727"/>
            <a:ext cx="2514604" cy="566932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" name="Text 17"/>
          <p:cNvSpPr txBox="1"/>
          <p:nvPr/>
        </p:nvSpPr>
        <p:spPr>
          <a:xfrm>
            <a:off x="3319271" y="2528104"/>
            <a:ext cx="2423164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Prediction / Reuse-</a:t>
            </a:r>
          </a:p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Behavior Scoring</a:t>
            </a:r>
          </a:p>
        </p:txBody>
      </p:sp>
      <p:sp>
        <p:nvSpPr>
          <p:cNvPr id="63" name="Shape 18"/>
          <p:cNvSpPr/>
          <p:nvPr/>
        </p:nvSpPr>
        <p:spPr>
          <a:xfrm>
            <a:off x="5815584" y="2596894"/>
            <a:ext cx="201172" cy="1645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47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" name="Shape 19"/>
          <p:cNvSpPr/>
          <p:nvPr/>
        </p:nvSpPr>
        <p:spPr>
          <a:xfrm>
            <a:off x="6044184" y="2395727"/>
            <a:ext cx="2514604" cy="566932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" name="Text 20"/>
          <p:cNvSpPr txBox="1"/>
          <p:nvPr/>
        </p:nvSpPr>
        <p:spPr>
          <a:xfrm>
            <a:off x="6089903" y="2610654"/>
            <a:ext cx="24231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Memory Manager</a:t>
            </a:r>
          </a:p>
        </p:txBody>
      </p:sp>
      <p:sp>
        <p:nvSpPr>
          <p:cNvPr id="66" name="Shape 21"/>
          <p:cNvSpPr/>
          <p:nvPr/>
        </p:nvSpPr>
        <p:spPr>
          <a:xfrm>
            <a:off x="8586216" y="2596894"/>
            <a:ext cx="201172" cy="16459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647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7" name="Shape 22"/>
          <p:cNvSpPr/>
          <p:nvPr/>
        </p:nvSpPr>
        <p:spPr>
          <a:xfrm>
            <a:off x="8814816" y="2395727"/>
            <a:ext cx="2514604" cy="566932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8" name="Text 23"/>
          <p:cNvSpPr txBox="1"/>
          <p:nvPr/>
        </p:nvSpPr>
        <p:spPr>
          <a:xfrm>
            <a:off x="8860535" y="2610654"/>
            <a:ext cx="24231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Replacement Decision</a:t>
            </a:r>
          </a:p>
        </p:txBody>
      </p:sp>
      <p:sp>
        <p:nvSpPr>
          <p:cNvPr id="69" name="Shape 24"/>
          <p:cNvSpPr/>
          <p:nvPr/>
        </p:nvSpPr>
        <p:spPr>
          <a:xfrm>
            <a:off x="9971530" y="1892805"/>
            <a:ext cx="201172" cy="4114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320"/>
                </a:moveTo>
                <a:lnTo>
                  <a:pt x="5400" y="1632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320"/>
                </a:lnTo>
                <a:lnTo>
                  <a:pt x="21600" y="1632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647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" name="Shape 25"/>
          <p:cNvSpPr/>
          <p:nvPr/>
        </p:nvSpPr>
        <p:spPr>
          <a:xfrm>
            <a:off x="502919" y="3257224"/>
            <a:ext cx="5285233" cy="1773629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1" name="Text 26"/>
          <p:cNvSpPr txBox="1"/>
          <p:nvPr/>
        </p:nvSpPr>
        <p:spPr>
          <a:xfrm>
            <a:off x="754066" y="3484626"/>
            <a:ext cx="58286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  Monitor page activity</a:t>
            </a:r>
          </a:p>
        </p:txBody>
      </p:sp>
      <p:sp>
        <p:nvSpPr>
          <p:cNvPr id="72" name="Text 27"/>
          <p:cNvSpPr txBox="1"/>
          <p:nvPr/>
        </p:nvSpPr>
        <p:spPr>
          <a:xfrm>
            <a:off x="731516" y="3732583"/>
            <a:ext cx="603504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  Maintain access history</a:t>
            </a:r>
          </a:p>
        </p:txBody>
      </p:sp>
      <p:sp>
        <p:nvSpPr>
          <p:cNvPr id="73" name="Text 28"/>
          <p:cNvSpPr txBox="1"/>
          <p:nvPr/>
        </p:nvSpPr>
        <p:spPr>
          <a:xfrm>
            <a:off x="731516" y="3980538"/>
            <a:ext cx="603504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  Extract reuse behaviour</a:t>
            </a:r>
          </a:p>
        </p:txBody>
      </p:sp>
      <p:sp>
        <p:nvSpPr>
          <p:cNvPr id="74" name="Text 29"/>
          <p:cNvSpPr txBox="1"/>
          <p:nvPr/>
        </p:nvSpPr>
        <p:spPr>
          <a:xfrm>
            <a:off x="731516" y="4277000"/>
            <a:ext cx="603504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  Estimate future page usefulness</a:t>
            </a:r>
          </a:p>
        </p:txBody>
      </p:sp>
      <p:sp>
        <p:nvSpPr>
          <p:cNvPr id="75" name="Text 30"/>
          <p:cNvSpPr txBox="1"/>
          <p:nvPr/>
        </p:nvSpPr>
        <p:spPr>
          <a:xfrm>
            <a:off x="731516" y="4537986"/>
            <a:ext cx="6035047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→  Assist victim selection during page replacement</a:t>
            </a:r>
          </a:p>
        </p:txBody>
      </p:sp>
      <p:sp>
        <p:nvSpPr>
          <p:cNvPr id="76" name="Shape 31"/>
          <p:cNvSpPr/>
          <p:nvPr/>
        </p:nvSpPr>
        <p:spPr>
          <a:xfrm>
            <a:off x="508006" y="5373620"/>
            <a:ext cx="5275061" cy="868684"/>
          </a:xfrm>
          <a:prstGeom prst="roundRect">
            <a:avLst>
              <a:gd name="adj" fmla="val 9474"/>
            </a:avLst>
          </a:prstGeom>
          <a:solidFill>
            <a:srgbClr val="EFEAFA"/>
          </a:solidFill>
          <a:ln w="12700">
            <a:solidFill>
              <a:srgbClr val="6C4AB6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7" name="Text 32"/>
          <p:cNvSpPr txBox="1"/>
          <p:nvPr/>
        </p:nvSpPr>
        <p:spPr>
          <a:xfrm>
            <a:off x="1604213" y="5591345"/>
            <a:ext cx="402336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Example:  </a:t>
            </a:r>
            <a:r>
              <a:rPr b="0">
                <a:solidFill>
                  <a:srgbClr val="0F2942"/>
                </a:solidFill>
              </a:rPr>
              <a:t>1 → 2 → 3 → 1 → 2 → ?</a:t>
            </a:r>
          </a:p>
        </p:txBody>
      </p:sp>
      <p:sp>
        <p:nvSpPr>
          <p:cNvPr id="78" name="Text 33"/>
          <p:cNvSpPr txBox="1"/>
          <p:nvPr/>
        </p:nvSpPr>
        <p:spPr>
          <a:xfrm>
            <a:off x="1604213" y="5898488"/>
            <a:ext cx="4023364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Prediction → </a:t>
            </a:r>
            <a:r>
              <a:rPr b="1" sz="1600">
                <a:solidFill>
                  <a:srgbClr val="6C4AB6"/>
                </a:solidFill>
              </a:rPr>
              <a:t>3</a:t>
            </a:r>
          </a:p>
        </p:txBody>
      </p:sp>
      <p:sp>
        <p:nvSpPr>
          <p:cNvPr id="79" name="Text 36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80" name="Text 37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02 / 10</a:t>
            </a:r>
          </a:p>
        </p:txBody>
      </p:sp>
      <p:pic>
        <p:nvPicPr>
          <p:cNvPr id="81" name="Page Prediction.png" descr="Page Prediction.png"/>
          <p:cNvPicPr>
            <a:picLocks noChangeAspect="1"/>
          </p:cNvPicPr>
          <p:nvPr/>
        </p:nvPicPr>
        <p:blipFill>
          <a:blip r:embed="rId2">
            <a:extLst/>
          </a:blip>
          <a:srcRect l="48825" t="19178" r="6807" b="24080"/>
          <a:stretch>
            <a:fillRect/>
          </a:stretch>
        </p:blipFill>
        <p:spPr>
          <a:xfrm>
            <a:off x="6602407" y="3209686"/>
            <a:ext cx="4005489" cy="33314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84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AIPage Reuse-Behavior Model</a:t>
            </a:r>
          </a:p>
        </p:txBody>
      </p:sp>
      <p:sp>
        <p:nvSpPr>
          <p:cNvPr id="85" name="Text 2"/>
          <p:cNvSpPr txBox="1"/>
          <p:nvPr/>
        </p:nvSpPr>
        <p:spPr>
          <a:xfrm>
            <a:off x="502919" y="1247070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3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Lightweight reuse-aware prediction / scoring engine</a:t>
            </a:r>
          </a:p>
        </p:txBody>
      </p:sp>
      <p:sp>
        <p:nvSpPr>
          <p:cNvPr id="86" name="Shape 3"/>
          <p:cNvSpPr/>
          <p:nvPr/>
        </p:nvSpPr>
        <p:spPr>
          <a:xfrm>
            <a:off x="502918" y="1645920"/>
            <a:ext cx="411488" cy="41148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7" name="Text 4"/>
          <p:cNvSpPr txBox="1"/>
          <p:nvPr/>
        </p:nvSpPr>
        <p:spPr>
          <a:xfrm>
            <a:off x="502919" y="1773227"/>
            <a:ext cx="41148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8" name="Shape 5"/>
          <p:cNvSpPr/>
          <p:nvPr/>
        </p:nvSpPr>
        <p:spPr>
          <a:xfrm>
            <a:off x="1005838" y="1645920"/>
            <a:ext cx="2697485" cy="4114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9" name="Text 6"/>
          <p:cNvSpPr txBox="1"/>
          <p:nvPr/>
        </p:nvSpPr>
        <p:spPr>
          <a:xfrm>
            <a:off x="1005838" y="1784524"/>
            <a:ext cx="26974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Frequency (10)</a:t>
            </a:r>
          </a:p>
        </p:txBody>
      </p:sp>
      <p:sp>
        <p:nvSpPr>
          <p:cNvPr id="90" name="Shape 7"/>
          <p:cNvSpPr/>
          <p:nvPr/>
        </p:nvSpPr>
        <p:spPr>
          <a:xfrm>
            <a:off x="3840479" y="1645920"/>
            <a:ext cx="411487" cy="41148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" name="Text 8"/>
          <p:cNvSpPr txBox="1"/>
          <p:nvPr/>
        </p:nvSpPr>
        <p:spPr>
          <a:xfrm>
            <a:off x="3840479" y="1773227"/>
            <a:ext cx="41148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2" name="Shape 9"/>
          <p:cNvSpPr/>
          <p:nvPr/>
        </p:nvSpPr>
        <p:spPr>
          <a:xfrm>
            <a:off x="4343400" y="1645920"/>
            <a:ext cx="2697480" cy="4114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3" name="Text 10"/>
          <p:cNvSpPr txBox="1"/>
          <p:nvPr/>
        </p:nvSpPr>
        <p:spPr>
          <a:xfrm>
            <a:off x="4343398" y="1784524"/>
            <a:ext cx="26974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Frequency (50)</a:t>
            </a:r>
          </a:p>
        </p:txBody>
      </p:sp>
      <p:sp>
        <p:nvSpPr>
          <p:cNvPr id="94" name="Shape 11"/>
          <p:cNvSpPr/>
          <p:nvPr/>
        </p:nvSpPr>
        <p:spPr>
          <a:xfrm>
            <a:off x="502918" y="2267710"/>
            <a:ext cx="411488" cy="41148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Text 12"/>
          <p:cNvSpPr txBox="1"/>
          <p:nvPr/>
        </p:nvSpPr>
        <p:spPr>
          <a:xfrm>
            <a:off x="502919" y="2395016"/>
            <a:ext cx="41148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6" name="Shape 13"/>
          <p:cNvSpPr/>
          <p:nvPr/>
        </p:nvSpPr>
        <p:spPr>
          <a:xfrm>
            <a:off x="1005838" y="2267711"/>
            <a:ext cx="2697485" cy="41148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Text 14"/>
          <p:cNvSpPr txBox="1"/>
          <p:nvPr/>
        </p:nvSpPr>
        <p:spPr>
          <a:xfrm>
            <a:off x="1005838" y="2406318"/>
            <a:ext cx="26974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Frequency (100)</a:t>
            </a:r>
          </a:p>
        </p:txBody>
      </p:sp>
      <p:sp>
        <p:nvSpPr>
          <p:cNvPr id="98" name="Shape 15"/>
          <p:cNvSpPr/>
          <p:nvPr/>
        </p:nvSpPr>
        <p:spPr>
          <a:xfrm>
            <a:off x="3840479" y="2267710"/>
            <a:ext cx="411487" cy="41148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Text 16"/>
          <p:cNvSpPr txBox="1"/>
          <p:nvPr/>
        </p:nvSpPr>
        <p:spPr>
          <a:xfrm>
            <a:off x="3840479" y="2395016"/>
            <a:ext cx="41148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0" name="Shape 17"/>
          <p:cNvSpPr/>
          <p:nvPr/>
        </p:nvSpPr>
        <p:spPr>
          <a:xfrm>
            <a:off x="4343400" y="2267711"/>
            <a:ext cx="2697480" cy="41148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Text 18"/>
          <p:cNvSpPr txBox="1"/>
          <p:nvPr/>
        </p:nvSpPr>
        <p:spPr>
          <a:xfrm>
            <a:off x="4343398" y="2406318"/>
            <a:ext cx="26974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Recency</a:t>
            </a:r>
          </a:p>
        </p:txBody>
      </p:sp>
      <p:sp>
        <p:nvSpPr>
          <p:cNvPr id="102" name="Shape 19"/>
          <p:cNvSpPr/>
          <p:nvPr/>
        </p:nvSpPr>
        <p:spPr>
          <a:xfrm>
            <a:off x="502918" y="2889504"/>
            <a:ext cx="411488" cy="41148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Text 20"/>
          <p:cNvSpPr txBox="1"/>
          <p:nvPr/>
        </p:nvSpPr>
        <p:spPr>
          <a:xfrm>
            <a:off x="502919" y="3016811"/>
            <a:ext cx="41148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04" name="Shape 21"/>
          <p:cNvSpPr/>
          <p:nvPr/>
        </p:nvSpPr>
        <p:spPr>
          <a:xfrm>
            <a:off x="1005838" y="2889504"/>
            <a:ext cx="2697485" cy="4114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Text 22"/>
          <p:cNvSpPr txBox="1"/>
          <p:nvPr/>
        </p:nvSpPr>
        <p:spPr>
          <a:xfrm>
            <a:off x="1005838" y="3028107"/>
            <a:ext cx="269748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Last Reuse Distance</a:t>
            </a:r>
          </a:p>
        </p:txBody>
      </p:sp>
      <p:sp>
        <p:nvSpPr>
          <p:cNvPr id="106" name="Shape 23"/>
          <p:cNvSpPr/>
          <p:nvPr/>
        </p:nvSpPr>
        <p:spPr>
          <a:xfrm>
            <a:off x="3840479" y="2889504"/>
            <a:ext cx="411487" cy="41148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Text 24"/>
          <p:cNvSpPr txBox="1"/>
          <p:nvPr/>
        </p:nvSpPr>
        <p:spPr>
          <a:xfrm>
            <a:off x="3840479" y="3016811"/>
            <a:ext cx="41148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8" name="Shape 25"/>
          <p:cNvSpPr/>
          <p:nvPr/>
        </p:nvSpPr>
        <p:spPr>
          <a:xfrm>
            <a:off x="4343400" y="2889504"/>
            <a:ext cx="2697480" cy="4114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Text 26"/>
          <p:cNvSpPr txBox="1"/>
          <p:nvPr/>
        </p:nvSpPr>
        <p:spPr>
          <a:xfrm>
            <a:off x="4343398" y="3028107"/>
            <a:ext cx="269748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Average Reuse Distance</a:t>
            </a:r>
          </a:p>
        </p:txBody>
      </p:sp>
      <p:sp>
        <p:nvSpPr>
          <p:cNvPr id="110" name="Shape 27"/>
          <p:cNvSpPr/>
          <p:nvPr/>
        </p:nvSpPr>
        <p:spPr>
          <a:xfrm>
            <a:off x="502918" y="3511296"/>
            <a:ext cx="411488" cy="41148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Text 28"/>
          <p:cNvSpPr txBox="1"/>
          <p:nvPr/>
        </p:nvSpPr>
        <p:spPr>
          <a:xfrm>
            <a:off x="502919" y="3638603"/>
            <a:ext cx="41148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2" name="Shape 29"/>
          <p:cNvSpPr/>
          <p:nvPr/>
        </p:nvSpPr>
        <p:spPr>
          <a:xfrm>
            <a:off x="1005838" y="3511296"/>
            <a:ext cx="2697485" cy="4114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Text 30"/>
          <p:cNvSpPr txBox="1"/>
          <p:nvPr/>
        </p:nvSpPr>
        <p:spPr>
          <a:xfrm>
            <a:off x="1005838" y="3649902"/>
            <a:ext cx="26974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Reuse Count</a:t>
            </a:r>
          </a:p>
        </p:txBody>
      </p:sp>
      <p:sp>
        <p:nvSpPr>
          <p:cNvPr id="114" name="Shape 31"/>
          <p:cNvSpPr/>
          <p:nvPr/>
        </p:nvSpPr>
        <p:spPr>
          <a:xfrm>
            <a:off x="7315200" y="1645920"/>
            <a:ext cx="4389121" cy="566932"/>
          </a:xfrm>
          <a:prstGeom prst="roundRect">
            <a:avLst>
              <a:gd name="adj" fmla="val 1129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Text 32"/>
          <p:cNvSpPr txBox="1"/>
          <p:nvPr/>
        </p:nvSpPr>
        <p:spPr>
          <a:xfrm>
            <a:off x="7360918" y="1850950"/>
            <a:ext cx="42976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7 REUSE FEATURES</a:t>
            </a:r>
          </a:p>
        </p:txBody>
      </p:sp>
      <p:sp>
        <p:nvSpPr>
          <p:cNvPr id="116" name="Shape 33"/>
          <p:cNvSpPr/>
          <p:nvPr/>
        </p:nvSpPr>
        <p:spPr>
          <a:xfrm>
            <a:off x="9326880" y="2212848"/>
            <a:ext cx="365764" cy="2743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Shape 34"/>
          <p:cNvSpPr/>
          <p:nvPr/>
        </p:nvSpPr>
        <p:spPr>
          <a:xfrm>
            <a:off x="7315200" y="2578605"/>
            <a:ext cx="4389121" cy="566932"/>
          </a:xfrm>
          <a:prstGeom prst="roundRect">
            <a:avLst>
              <a:gd name="adj" fmla="val 1129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Text 35"/>
          <p:cNvSpPr txBox="1"/>
          <p:nvPr/>
        </p:nvSpPr>
        <p:spPr>
          <a:xfrm>
            <a:off x="7360918" y="2783639"/>
            <a:ext cx="42976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REUSE-BEHAVIOR SCORING</a:t>
            </a:r>
          </a:p>
        </p:txBody>
      </p:sp>
      <p:sp>
        <p:nvSpPr>
          <p:cNvPr id="119" name="Shape 36"/>
          <p:cNvSpPr/>
          <p:nvPr/>
        </p:nvSpPr>
        <p:spPr>
          <a:xfrm>
            <a:off x="9326880" y="3145532"/>
            <a:ext cx="365764" cy="2743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Shape 37"/>
          <p:cNvSpPr/>
          <p:nvPr/>
        </p:nvSpPr>
        <p:spPr>
          <a:xfrm>
            <a:off x="7315200" y="3511296"/>
            <a:ext cx="4389121" cy="566932"/>
          </a:xfrm>
          <a:prstGeom prst="roundRect">
            <a:avLst>
              <a:gd name="adj" fmla="val 1129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Text 38"/>
          <p:cNvSpPr txBox="1"/>
          <p:nvPr/>
        </p:nvSpPr>
        <p:spPr>
          <a:xfrm>
            <a:off x="7360918" y="3716327"/>
            <a:ext cx="42976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FUTURE PAGE USEFULNESS</a:t>
            </a:r>
          </a:p>
        </p:txBody>
      </p:sp>
      <p:sp>
        <p:nvSpPr>
          <p:cNvPr id="122" name="Shape 39"/>
          <p:cNvSpPr/>
          <p:nvPr/>
        </p:nvSpPr>
        <p:spPr>
          <a:xfrm>
            <a:off x="9326880" y="4078223"/>
            <a:ext cx="365764" cy="2743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Shape 40"/>
          <p:cNvSpPr/>
          <p:nvPr/>
        </p:nvSpPr>
        <p:spPr>
          <a:xfrm>
            <a:off x="7315200" y="4443984"/>
            <a:ext cx="4389121" cy="566932"/>
          </a:xfrm>
          <a:prstGeom prst="roundRect">
            <a:avLst>
              <a:gd name="adj" fmla="val 11290"/>
            </a:avLst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Text 41"/>
          <p:cNvSpPr txBox="1"/>
          <p:nvPr/>
        </p:nvSpPr>
        <p:spPr>
          <a:xfrm>
            <a:off x="7360918" y="4649015"/>
            <a:ext cx="42976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VICTIM SELECTION</a:t>
            </a:r>
          </a:p>
        </p:txBody>
      </p:sp>
      <p:sp>
        <p:nvSpPr>
          <p:cNvPr id="125" name="Shape 42"/>
          <p:cNvSpPr/>
          <p:nvPr/>
        </p:nvSpPr>
        <p:spPr>
          <a:xfrm>
            <a:off x="502919" y="5532120"/>
            <a:ext cx="11201401" cy="777244"/>
          </a:xfrm>
          <a:prstGeom prst="roundRect">
            <a:avLst>
              <a:gd name="adj" fmla="val 10588"/>
            </a:avLst>
          </a:prstGeom>
          <a:solidFill>
            <a:srgbClr val="EFEAFA"/>
          </a:solidFill>
          <a:ln w="12700">
            <a:solidFill>
              <a:srgbClr val="6C4AB6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Text 43"/>
          <p:cNvSpPr txBox="1"/>
          <p:nvPr/>
        </p:nvSpPr>
        <p:spPr>
          <a:xfrm>
            <a:off x="777240" y="5842306"/>
            <a:ext cx="106527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Important:  </a:t>
            </a:r>
            <a:r>
              <a:rPr b="0">
                <a:solidFill>
                  <a:srgbClr val="1F2937"/>
                </a:solidFill>
              </a:rPr>
              <a:t>This is not termed a neural network unless the implementation supports that claim.</a:t>
            </a:r>
          </a:p>
        </p:txBody>
      </p:sp>
      <p:sp>
        <p:nvSpPr>
          <p:cNvPr id="127" name="Text 44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128" name="Text 45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03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Methodology Evolution &amp; Adaptability</a:t>
            </a:r>
          </a:p>
        </p:txBody>
      </p:sp>
      <p:sp>
        <p:nvSpPr>
          <p:cNvPr id="132" name="Shape 2"/>
          <p:cNvSpPr/>
          <p:nvPr/>
        </p:nvSpPr>
        <p:spPr>
          <a:xfrm>
            <a:off x="502919" y="1234438"/>
            <a:ext cx="6035043" cy="5074924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Text 3"/>
          <p:cNvSpPr txBox="1"/>
          <p:nvPr/>
        </p:nvSpPr>
        <p:spPr>
          <a:xfrm>
            <a:off x="731516" y="1441624"/>
            <a:ext cx="457200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EVOLUTION TIMELINE</a:t>
            </a:r>
          </a:p>
        </p:txBody>
      </p:sp>
      <p:sp>
        <p:nvSpPr>
          <p:cNvPr id="134" name="Shape 4"/>
          <p:cNvSpPr/>
          <p:nvPr/>
        </p:nvSpPr>
        <p:spPr>
          <a:xfrm flipH="1">
            <a:off x="960119" y="1783077"/>
            <a:ext cx="4" cy="4343404"/>
          </a:xfrm>
          <a:prstGeom prst="line">
            <a:avLst/>
          </a:prstGeom>
          <a:ln w="25400">
            <a:solidFill>
              <a:srgbClr val="DFE4E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Shape 5"/>
          <p:cNvSpPr/>
          <p:nvPr/>
        </p:nvSpPr>
        <p:spPr>
          <a:xfrm>
            <a:off x="886966" y="1783077"/>
            <a:ext cx="146311" cy="146311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6" name="Text 6"/>
          <p:cNvSpPr txBox="1"/>
          <p:nvPr/>
        </p:nvSpPr>
        <p:spPr>
          <a:xfrm>
            <a:off x="1188719" y="1757091"/>
            <a:ext cx="12801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 1</a:t>
            </a:r>
          </a:p>
        </p:txBody>
      </p:sp>
      <p:sp>
        <p:nvSpPr>
          <p:cNvPr id="137" name="Text 7"/>
          <p:cNvSpPr txBox="1"/>
          <p:nvPr/>
        </p:nvSpPr>
        <p:spPr>
          <a:xfrm>
            <a:off x="2514600" y="1757091"/>
            <a:ext cx="388620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Problem + AIPage concept</a:t>
            </a:r>
          </a:p>
        </p:txBody>
      </p:sp>
      <p:sp>
        <p:nvSpPr>
          <p:cNvPr id="138" name="Shape 8"/>
          <p:cNvSpPr/>
          <p:nvPr/>
        </p:nvSpPr>
        <p:spPr>
          <a:xfrm>
            <a:off x="886966" y="2313432"/>
            <a:ext cx="146311" cy="146311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9" name="Text 9"/>
          <p:cNvSpPr txBox="1"/>
          <p:nvPr/>
        </p:nvSpPr>
        <p:spPr>
          <a:xfrm>
            <a:off x="1188719" y="2287446"/>
            <a:ext cx="12801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 2</a:t>
            </a:r>
          </a:p>
        </p:txBody>
      </p:sp>
      <p:sp>
        <p:nvSpPr>
          <p:cNvPr id="140" name="Text 10"/>
          <p:cNvSpPr txBox="1"/>
          <p:nvPr/>
        </p:nvSpPr>
        <p:spPr>
          <a:xfrm>
            <a:off x="2514600" y="2287446"/>
            <a:ext cx="3886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Literature + Research Gap</a:t>
            </a:r>
          </a:p>
        </p:txBody>
      </p:sp>
      <p:sp>
        <p:nvSpPr>
          <p:cNvPr id="141" name="Shape 11"/>
          <p:cNvSpPr/>
          <p:nvPr/>
        </p:nvSpPr>
        <p:spPr>
          <a:xfrm>
            <a:off x="886966" y="2843783"/>
            <a:ext cx="146311" cy="14631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2" name="Text 12"/>
          <p:cNvSpPr txBox="1"/>
          <p:nvPr/>
        </p:nvSpPr>
        <p:spPr>
          <a:xfrm>
            <a:off x="1188717" y="2816393"/>
            <a:ext cx="521208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Reuse-based features</a:t>
            </a:r>
          </a:p>
        </p:txBody>
      </p:sp>
      <p:sp>
        <p:nvSpPr>
          <p:cNvPr id="143" name="Shape 13"/>
          <p:cNvSpPr/>
          <p:nvPr/>
        </p:nvSpPr>
        <p:spPr>
          <a:xfrm>
            <a:off x="886966" y="3374135"/>
            <a:ext cx="146311" cy="14631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Text 14"/>
          <p:cNvSpPr txBox="1"/>
          <p:nvPr/>
        </p:nvSpPr>
        <p:spPr>
          <a:xfrm>
            <a:off x="1188717" y="3346748"/>
            <a:ext cx="521208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Prediction + Replacement methodology</a:t>
            </a:r>
          </a:p>
        </p:txBody>
      </p:sp>
      <p:sp>
        <p:nvSpPr>
          <p:cNvPr id="145" name="Shape 15"/>
          <p:cNvSpPr/>
          <p:nvPr/>
        </p:nvSpPr>
        <p:spPr>
          <a:xfrm>
            <a:off x="886966" y="3904488"/>
            <a:ext cx="146311" cy="146311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6" name="Text 16"/>
          <p:cNvSpPr txBox="1"/>
          <p:nvPr/>
        </p:nvSpPr>
        <p:spPr>
          <a:xfrm>
            <a:off x="1188719" y="3878502"/>
            <a:ext cx="12801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 3</a:t>
            </a:r>
          </a:p>
        </p:txBody>
      </p:sp>
      <p:sp>
        <p:nvSpPr>
          <p:cNvPr id="147" name="Text 17"/>
          <p:cNvSpPr txBox="1"/>
          <p:nvPr/>
        </p:nvSpPr>
        <p:spPr>
          <a:xfrm>
            <a:off x="2514600" y="3878502"/>
            <a:ext cx="3886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Real /proc integration</a:t>
            </a:r>
          </a:p>
        </p:txBody>
      </p:sp>
      <p:sp>
        <p:nvSpPr>
          <p:cNvPr id="148" name="Shape 18"/>
          <p:cNvSpPr/>
          <p:nvPr/>
        </p:nvSpPr>
        <p:spPr>
          <a:xfrm>
            <a:off x="886966" y="4434840"/>
            <a:ext cx="146311" cy="14631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9" name="Text 19"/>
          <p:cNvSpPr txBox="1"/>
          <p:nvPr/>
        </p:nvSpPr>
        <p:spPr>
          <a:xfrm>
            <a:off x="1188717" y="4407451"/>
            <a:ext cx="521208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Live prediction</a:t>
            </a:r>
          </a:p>
        </p:txBody>
      </p:sp>
      <p:sp>
        <p:nvSpPr>
          <p:cNvPr id="150" name="Shape 20"/>
          <p:cNvSpPr/>
          <p:nvPr/>
        </p:nvSpPr>
        <p:spPr>
          <a:xfrm>
            <a:off x="886966" y="4965191"/>
            <a:ext cx="146311" cy="14631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1" name="Text 21"/>
          <p:cNvSpPr txBox="1"/>
          <p:nvPr/>
        </p:nvSpPr>
        <p:spPr>
          <a:xfrm>
            <a:off x="1188717" y="4937804"/>
            <a:ext cx="521208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AI-assisted memory decision</a:t>
            </a:r>
          </a:p>
        </p:txBody>
      </p:sp>
      <p:sp>
        <p:nvSpPr>
          <p:cNvPr id="152" name="Shape 22"/>
          <p:cNvSpPr/>
          <p:nvPr/>
        </p:nvSpPr>
        <p:spPr>
          <a:xfrm>
            <a:off x="886966" y="5495544"/>
            <a:ext cx="146311" cy="146311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Text 23"/>
          <p:cNvSpPr txBox="1"/>
          <p:nvPr/>
        </p:nvSpPr>
        <p:spPr>
          <a:xfrm>
            <a:off x="1188717" y="5468156"/>
            <a:ext cx="521208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GUI + experimental validation</a:t>
            </a:r>
          </a:p>
        </p:txBody>
      </p:sp>
      <p:sp>
        <p:nvSpPr>
          <p:cNvPr id="154" name="Shape 24"/>
          <p:cNvSpPr/>
          <p:nvPr/>
        </p:nvSpPr>
        <p:spPr>
          <a:xfrm>
            <a:off x="6720840" y="1234438"/>
            <a:ext cx="4983484" cy="5074924"/>
          </a:xfrm>
          <a:prstGeom prst="roundRect">
            <a:avLst>
              <a:gd name="adj" fmla="val 1651"/>
            </a:avLst>
          </a:prstGeom>
          <a:solidFill>
            <a:srgbClr val="E4F1F5"/>
          </a:solidFill>
          <a:ln w="12700">
            <a:solidFill>
              <a:srgbClr val="1C7293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" name="Text 25"/>
          <p:cNvSpPr txBox="1"/>
          <p:nvPr/>
        </p:nvSpPr>
        <p:spPr>
          <a:xfrm>
            <a:off x="6949440" y="1441624"/>
            <a:ext cx="45720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ADAPTABILITY OF METHODOLOGY</a:t>
            </a:r>
          </a:p>
        </p:txBody>
      </p:sp>
      <p:sp>
        <p:nvSpPr>
          <p:cNvPr id="156" name="Text 26"/>
          <p:cNvSpPr txBox="1"/>
          <p:nvPr/>
        </p:nvSpPr>
        <p:spPr>
          <a:xfrm>
            <a:off x="6949440" y="1814372"/>
            <a:ext cx="448056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Workload Patterns</a:t>
            </a:r>
          </a:p>
        </p:txBody>
      </p:sp>
      <p:sp>
        <p:nvSpPr>
          <p:cNvPr id="157" name="Shape 27"/>
          <p:cNvSpPr/>
          <p:nvPr/>
        </p:nvSpPr>
        <p:spPr>
          <a:xfrm>
            <a:off x="6949440" y="2057400"/>
            <a:ext cx="10424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" name="Text 28"/>
          <p:cNvSpPr txBox="1"/>
          <p:nvPr/>
        </p:nvSpPr>
        <p:spPr>
          <a:xfrm>
            <a:off x="6949440" y="2180888"/>
            <a:ext cx="104241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Locality</a:t>
            </a:r>
          </a:p>
        </p:txBody>
      </p:sp>
      <p:sp>
        <p:nvSpPr>
          <p:cNvPr id="159" name="Shape 29"/>
          <p:cNvSpPr/>
          <p:nvPr/>
        </p:nvSpPr>
        <p:spPr>
          <a:xfrm>
            <a:off x="8083294" y="2057400"/>
            <a:ext cx="10424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" name="Text 30"/>
          <p:cNvSpPr txBox="1"/>
          <p:nvPr/>
        </p:nvSpPr>
        <p:spPr>
          <a:xfrm>
            <a:off x="8083294" y="2180888"/>
            <a:ext cx="104241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Random</a:t>
            </a:r>
          </a:p>
        </p:txBody>
      </p:sp>
      <p:sp>
        <p:nvSpPr>
          <p:cNvPr id="161" name="Shape 31"/>
          <p:cNvSpPr/>
          <p:nvPr/>
        </p:nvSpPr>
        <p:spPr>
          <a:xfrm>
            <a:off x="9217152" y="2057400"/>
            <a:ext cx="10424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" name="Text 32"/>
          <p:cNvSpPr txBox="1"/>
          <p:nvPr/>
        </p:nvSpPr>
        <p:spPr>
          <a:xfrm>
            <a:off x="9217152" y="2180888"/>
            <a:ext cx="104241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Sequential</a:t>
            </a:r>
          </a:p>
        </p:txBody>
      </p:sp>
      <p:sp>
        <p:nvSpPr>
          <p:cNvPr id="163" name="Shape 33"/>
          <p:cNvSpPr/>
          <p:nvPr/>
        </p:nvSpPr>
        <p:spPr>
          <a:xfrm>
            <a:off x="10351006" y="2057400"/>
            <a:ext cx="10424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Text 34"/>
          <p:cNvSpPr txBox="1"/>
          <p:nvPr/>
        </p:nvSpPr>
        <p:spPr>
          <a:xfrm>
            <a:off x="10351006" y="2180888"/>
            <a:ext cx="104241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Strided</a:t>
            </a:r>
          </a:p>
        </p:txBody>
      </p:sp>
      <p:sp>
        <p:nvSpPr>
          <p:cNvPr id="165" name="Text 35"/>
          <p:cNvSpPr txBox="1"/>
          <p:nvPr/>
        </p:nvSpPr>
        <p:spPr>
          <a:xfrm>
            <a:off x="6949440" y="2664766"/>
            <a:ext cx="448056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Frame Sizes</a:t>
            </a:r>
          </a:p>
        </p:txBody>
      </p:sp>
      <p:sp>
        <p:nvSpPr>
          <p:cNvPr id="166" name="Shape 36"/>
          <p:cNvSpPr/>
          <p:nvPr/>
        </p:nvSpPr>
        <p:spPr>
          <a:xfrm>
            <a:off x="6949440" y="2907792"/>
            <a:ext cx="566932" cy="4572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Text 37"/>
          <p:cNvSpPr txBox="1"/>
          <p:nvPr/>
        </p:nvSpPr>
        <p:spPr>
          <a:xfrm>
            <a:off x="6949440" y="3069258"/>
            <a:ext cx="5669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8" name="Shape 38"/>
          <p:cNvSpPr/>
          <p:nvPr/>
        </p:nvSpPr>
        <p:spPr>
          <a:xfrm>
            <a:off x="7575804" y="2907792"/>
            <a:ext cx="566932" cy="4572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" name="Text 39"/>
          <p:cNvSpPr txBox="1"/>
          <p:nvPr/>
        </p:nvSpPr>
        <p:spPr>
          <a:xfrm>
            <a:off x="7575804" y="3069258"/>
            <a:ext cx="5669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0" name="Shape 40"/>
          <p:cNvSpPr/>
          <p:nvPr/>
        </p:nvSpPr>
        <p:spPr>
          <a:xfrm>
            <a:off x="8202168" y="2907792"/>
            <a:ext cx="566932" cy="4572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" name="Text 41"/>
          <p:cNvSpPr txBox="1"/>
          <p:nvPr/>
        </p:nvSpPr>
        <p:spPr>
          <a:xfrm>
            <a:off x="8202168" y="3069258"/>
            <a:ext cx="5669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2" name="Shape 42"/>
          <p:cNvSpPr/>
          <p:nvPr/>
        </p:nvSpPr>
        <p:spPr>
          <a:xfrm>
            <a:off x="8828530" y="2907792"/>
            <a:ext cx="566932" cy="4572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" name="Text 43"/>
          <p:cNvSpPr txBox="1"/>
          <p:nvPr/>
        </p:nvSpPr>
        <p:spPr>
          <a:xfrm>
            <a:off x="8828530" y="3069258"/>
            <a:ext cx="5669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4" name="Shape 44"/>
          <p:cNvSpPr/>
          <p:nvPr/>
        </p:nvSpPr>
        <p:spPr>
          <a:xfrm>
            <a:off x="9454894" y="2907792"/>
            <a:ext cx="566932" cy="4572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5" name="Text 45"/>
          <p:cNvSpPr txBox="1"/>
          <p:nvPr/>
        </p:nvSpPr>
        <p:spPr>
          <a:xfrm>
            <a:off x="9454894" y="3069258"/>
            <a:ext cx="5669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6" name="Shape 46"/>
          <p:cNvSpPr/>
          <p:nvPr/>
        </p:nvSpPr>
        <p:spPr>
          <a:xfrm>
            <a:off x="10081259" y="2907792"/>
            <a:ext cx="566932" cy="4572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" name="Text 47"/>
          <p:cNvSpPr txBox="1"/>
          <p:nvPr/>
        </p:nvSpPr>
        <p:spPr>
          <a:xfrm>
            <a:off x="10081259" y="3069258"/>
            <a:ext cx="5669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78" name="Shape 48"/>
          <p:cNvSpPr/>
          <p:nvPr/>
        </p:nvSpPr>
        <p:spPr>
          <a:xfrm>
            <a:off x="10707623" y="2907792"/>
            <a:ext cx="566932" cy="4572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" name="Text 49"/>
          <p:cNvSpPr txBox="1"/>
          <p:nvPr/>
        </p:nvSpPr>
        <p:spPr>
          <a:xfrm>
            <a:off x="10707623" y="3069258"/>
            <a:ext cx="5669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80" name="Shape 50"/>
          <p:cNvSpPr/>
          <p:nvPr/>
        </p:nvSpPr>
        <p:spPr>
          <a:xfrm>
            <a:off x="6949440" y="3566159"/>
            <a:ext cx="4480560" cy="1417324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1" name="Text 51"/>
          <p:cNvSpPr txBox="1"/>
          <p:nvPr/>
        </p:nvSpPr>
        <p:spPr>
          <a:xfrm>
            <a:off x="7178040" y="3703320"/>
            <a:ext cx="4023360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The methodology can be evaluated across different workload behaviours and memory capacities.</a:t>
            </a:r>
          </a:p>
        </p:txBody>
      </p:sp>
      <p:sp>
        <p:nvSpPr>
          <p:cNvPr id="182" name="Shape 52"/>
          <p:cNvSpPr/>
          <p:nvPr/>
        </p:nvSpPr>
        <p:spPr>
          <a:xfrm>
            <a:off x="6949440" y="5120640"/>
            <a:ext cx="4480560" cy="1051564"/>
          </a:xfrm>
          <a:prstGeom prst="roundRect">
            <a:avLst>
              <a:gd name="adj" fmla="val 7826"/>
            </a:avLst>
          </a:prstGeom>
          <a:solidFill>
            <a:srgbClr val="EFEAFA"/>
          </a:solidFill>
          <a:ln w="12700">
            <a:solidFill>
              <a:srgbClr val="6C4AB6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3" name="Text 53"/>
          <p:cNvSpPr txBox="1"/>
          <p:nvPr/>
        </p:nvSpPr>
        <p:spPr>
          <a:xfrm>
            <a:off x="7178040" y="5496736"/>
            <a:ext cx="402336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1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Performance is workload-dependent. AIPage does not claim to always outperform LRU / FIFO.</a:t>
            </a:r>
          </a:p>
        </p:txBody>
      </p:sp>
      <p:sp>
        <p:nvSpPr>
          <p:cNvPr id="184" name="Text 54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185" name="Text 55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04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188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System Implementation</a:t>
            </a:r>
          </a:p>
        </p:txBody>
      </p:sp>
      <p:sp>
        <p:nvSpPr>
          <p:cNvPr id="189" name="Shape 2"/>
          <p:cNvSpPr/>
          <p:nvPr/>
        </p:nvSpPr>
        <p:spPr>
          <a:xfrm>
            <a:off x="502919" y="1234438"/>
            <a:ext cx="3611882" cy="96012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0" name="Shape 3"/>
          <p:cNvSpPr/>
          <p:nvPr/>
        </p:nvSpPr>
        <p:spPr>
          <a:xfrm>
            <a:off x="667512" y="1399032"/>
            <a:ext cx="640084" cy="640084"/>
          </a:xfrm>
          <a:prstGeom prst="roundRect">
            <a:avLst>
              <a:gd name="adj" fmla="val 12857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Text 4"/>
          <p:cNvSpPr txBox="1"/>
          <p:nvPr/>
        </p:nvSpPr>
        <p:spPr>
          <a:xfrm>
            <a:off x="667512" y="1611122"/>
            <a:ext cx="64008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92" name="Text 5"/>
          <p:cNvSpPr txBox="1"/>
          <p:nvPr/>
        </p:nvSpPr>
        <p:spPr>
          <a:xfrm>
            <a:off x="1463039" y="1579742"/>
            <a:ext cx="2514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3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93" name="Text 6"/>
          <p:cNvSpPr txBox="1"/>
          <p:nvPr/>
        </p:nvSpPr>
        <p:spPr>
          <a:xfrm>
            <a:off x="1463039" y="1719072"/>
            <a:ext cx="25146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OS / memory components</a:t>
            </a:r>
          </a:p>
        </p:txBody>
      </p:sp>
      <p:sp>
        <p:nvSpPr>
          <p:cNvPr id="194" name="Shape 7"/>
          <p:cNvSpPr/>
          <p:nvPr/>
        </p:nvSpPr>
        <p:spPr>
          <a:xfrm>
            <a:off x="4297679" y="1234438"/>
            <a:ext cx="3611884" cy="96012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5" name="Shape 8"/>
          <p:cNvSpPr/>
          <p:nvPr/>
        </p:nvSpPr>
        <p:spPr>
          <a:xfrm>
            <a:off x="4462271" y="1399032"/>
            <a:ext cx="640084" cy="640084"/>
          </a:xfrm>
          <a:prstGeom prst="roundRect">
            <a:avLst>
              <a:gd name="adj" fmla="val 12857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6" name="Text 9"/>
          <p:cNvSpPr txBox="1"/>
          <p:nvPr/>
        </p:nvSpPr>
        <p:spPr>
          <a:xfrm>
            <a:off x="4462271" y="1611122"/>
            <a:ext cx="64008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PY</a:t>
            </a:r>
          </a:p>
        </p:txBody>
      </p:sp>
      <p:sp>
        <p:nvSpPr>
          <p:cNvPr id="197" name="Text 10"/>
          <p:cNvSpPr txBox="1"/>
          <p:nvPr/>
        </p:nvSpPr>
        <p:spPr>
          <a:xfrm>
            <a:off x="5257800" y="1579742"/>
            <a:ext cx="2514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3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Python + Flask</a:t>
            </a:r>
          </a:p>
        </p:txBody>
      </p:sp>
      <p:sp>
        <p:nvSpPr>
          <p:cNvPr id="198" name="Text 11"/>
          <p:cNvSpPr txBox="1"/>
          <p:nvPr/>
        </p:nvSpPr>
        <p:spPr>
          <a:xfrm>
            <a:off x="5257800" y="1719072"/>
            <a:ext cx="25146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Dashboard / backend</a:t>
            </a:r>
          </a:p>
        </p:txBody>
      </p:sp>
      <p:sp>
        <p:nvSpPr>
          <p:cNvPr id="199" name="Shape 12"/>
          <p:cNvSpPr/>
          <p:nvPr/>
        </p:nvSpPr>
        <p:spPr>
          <a:xfrm>
            <a:off x="8092440" y="1234438"/>
            <a:ext cx="3611884" cy="96012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Shape 13"/>
          <p:cNvSpPr/>
          <p:nvPr/>
        </p:nvSpPr>
        <p:spPr>
          <a:xfrm>
            <a:off x="8257030" y="1399032"/>
            <a:ext cx="640084" cy="640084"/>
          </a:xfrm>
          <a:prstGeom prst="roundRect">
            <a:avLst>
              <a:gd name="adj" fmla="val 12857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1" name="Text 14"/>
          <p:cNvSpPr txBox="1"/>
          <p:nvPr/>
        </p:nvSpPr>
        <p:spPr>
          <a:xfrm>
            <a:off x="8257030" y="1611122"/>
            <a:ext cx="64008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JA</a:t>
            </a:r>
          </a:p>
        </p:txBody>
      </p:sp>
      <p:sp>
        <p:nvSpPr>
          <p:cNvPr id="202" name="Text 15"/>
          <p:cNvSpPr txBox="1"/>
          <p:nvPr/>
        </p:nvSpPr>
        <p:spPr>
          <a:xfrm>
            <a:off x="9052559" y="1579742"/>
            <a:ext cx="251460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3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JavaScript</a:t>
            </a:r>
          </a:p>
        </p:txBody>
      </p:sp>
      <p:sp>
        <p:nvSpPr>
          <p:cNvPr id="203" name="Text 16"/>
          <p:cNvSpPr txBox="1"/>
          <p:nvPr/>
        </p:nvSpPr>
        <p:spPr>
          <a:xfrm>
            <a:off x="9052559" y="1719072"/>
            <a:ext cx="25146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Live interface</a:t>
            </a:r>
          </a:p>
        </p:txBody>
      </p:sp>
      <p:sp>
        <p:nvSpPr>
          <p:cNvPr id="204" name="Shape 17"/>
          <p:cNvSpPr/>
          <p:nvPr/>
        </p:nvSpPr>
        <p:spPr>
          <a:xfrm>
            <a:off x="502919" y="2395727"/>
            <a:ext cx="3611882" cy="96012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5" name="Shape 18"/>
          <p:cNvSpPr/>
          <p:nvPr/>
        </p:nvSpPr>
        <p:spPr>
          <a:xfrm>
            <a:off x="667512" y="2560320"/>
            <a:ext cx="640084" cy="640084"/>
          </a:xfrm>
          <a:prstGeom prst="roundRect">
            <a:avLst>
              <a:gd name="adj" fmla="val 12857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6" name="Text 19"/>
          <p:cNvSpPr txBox="1"/>
          <p:nvPr/>
        </p:nvSpPr>
        <p:spPr>
          <a:xfrm>
            <a:off x="667512" y="2772410"/>
            <a:ext cx="64008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SQ</a:t>
            </a:r>
          </a:p>
        </p:txBody>
      </p:sp>
      <p:sp>
        <p:nvSpPr>
          <p:cNvPr id="207" name="Text 20"/>
          <p:cNvSpPr txBox="1"/>
          <p:nvPr/>
        </p:nvSpPr>
        <p:spPr>
          <a:xfrm>
            <a:off x="1463039" y="2741029"/>
            <a:ext cx="2514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3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SQLite</a:t>
            </a:r>
          </a:p>
        </p:txBody>
      </p:sp>
      <p:sp>
        <p:nvSpPr>
          <p:cNvPr id="208" name="Text 21"/>
          <p:cNvSpPr txBox="1"/>
          <p:nvPr/>
        </p:nvSpPr>
        <p:spPr>
          <a:xfrm>
            <a:off x="1463039" y="2880360"/>
            <a:ext cx="25146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Telemetry / results</a:t>
            </a:r>
          </a:p>
        </p:txBody>
      </p:sp>
      <p:sp>
        <p:nvSpPr>
          <p:cNvPr id="209" name="Shape 22"/>
          <p:cNvSpPr/>
          <p:nvPr/>
        </p:nvSpPr>
        <p:spPr>
          <a:xfrm>
            <a:off x="4297679" y="2395727"/>
            <a:ext cx="3611884" cy="96012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0" name="Shape 23"/>
          <p:cNvSpPr/>
          <p:nvPr/>
        </p:nvSpPr>
        <p:spPr>
          <a:xfrm>
            <a:off x="4462271" y="2560320"/>
            <a:ext cx="640084" cy="640084"/>
          </a:xfrm>
          <a:prstGeom prst="roundRect">
            <a:avLst>
              <a:gd name="adj" fmla="val 12857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1" name="Text 24"/>
          <p:cNvSpPr txBox="1"/>
          <p:nvPr/>
        </p:nvSpPr>
        <p:spPr>
          <a:xfrm>
            <a:off x="4462271" y="2772410"/>
            <a:ext cx="64008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</a:t>
            </a:r>
          </a:p>
        </p:txBody>
      </p:sp>
      <p:sp>
        <p:nvSpPr>
          <p:cNvPr id="212" name="Text 25"/>
          <p:cNvSpPr txBox="1"/>
          <p:nvPr/>
        </p:nvSpPr>
        <p:spPr>
          <a:xfrm>
            <a:off x="5257800" y="2741029"/>
            <a:ext cx="2514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3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Linux /proc</a:t>
            </a:r>
          </a:p>
        </p:txBody>
      </p:sp>
      <p:sp>
        <p:nvSpPr>
          <p:cNvPr id="213" name="Text 26"/>
          <p:cNvSpPr txBox="1"/>
          <p:nvPr/>
        </p:nvSpPr>
        <p:spPr>
          <a:xfrm>
            <a:off x="5257800" y="2880360"/>
            <a:ext cx="25146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Real process telemetry</a:t>
            </a:r>
          </a:p>
        </p:txBody>
      </p:sp>
      <p:sp>
        <p:nvSpPr>
          <p:cNvPr id="214" name="Shape 27"/>
          <p:cNvSpPr/>
          <p:nvPr/>
        </p:nvSpPr>
        <p:spPr>
          <a:xfrm>
            <a:off x="8092440" y="2395727"/>
            <a:ext cx="3611884" cy="96012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" name="Shape 28"/>
          <p:cNvSpPr/>
          <p:nvPr/>
        </p:nvSpPr>
        <p:spPr>
          <a:xfrm>
            <a:off x="8257030" y="2560320"/>
            <a:ext cx="640084" cy="640084"/>
          </a:xfrm>
          <a:prstGeom prst="roundRect">
            <a:avLst>
              <a:gd name="adj" fmla="val 12857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" name="Text 29"/>
          <p:cNvSpPr txBox="1"/>
          <p:nvPr/>
        </p:nvSpPr>
        <p:spPr>
          <a:xfrm>
            <a:off x="8257030" y="2772410"/>
            <a:ext cx="64008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GC</a:t>
            </a:r>
          </a:p>
        </p:txBody>
      </p:sp>
      <p:sp>
        <p:nvSpPr>
          <p:cNvPr id="217" name="Text 30"/>
          <p:cNvSpPr txBox="1"/>
          <p:nvPr/>
        </p:nvSpPr>
        <p:spPr>
          <a:xfrm>
            <a:off x="9052559" y="2741029"/>
            <a:ext cx="251460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3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GCC</a:t>
            </a:r>
          </a:p>
        </p:txBody>
      </p:sp>
      <p:sp>
        <p:nvSpPr>
          <p:cNvPr id="218" name="Text 31"/>
          <p:cNvSpPr txBox="1"/>
          <p:nvPr/>
        </p:nvSpPr>
        <p:spPr>
          <a:xfrm>
            <a:off x="9052559" y="2880360"/>
            <a:ext cx="25146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Compilation</a:t>
            </a:r>
          </a:p>
        </p:txBody>
      </p:sp>
      <p:sp>
        <p:nvSpPr>
          <p:cNvPr id="219" name="Shape 34"/>
          <p:cNvSpPr/>
          <p:nvPr/>
        </p:nvSpPr>
        <p:spPr>
          <a:xfrm>
            <a:off x="7359263" y="3556000"/>
            <a:ext cx="4114805" cy="2684940"/>
          </a:xfrm>
          <a:prstGeom prst="roundRect">
            <a:avLst>
              <a:gd name="adj" fmla="val 3065"/>
            </a:avLst>
          </a:prstGeom>
          <a:solidFill>
            <a:srgbClr val="0F2942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" name="Text 35"/>
          <p:cNvSpPr txBox="1"/>
          <p:nvPr/>
        </p:nvSpPr>
        <p:spPr>
          <a:xfrm>
            <a:off x="7587863" y="3798623"/>
            <a:ext cx="365760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8FD3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USER-SPACE PROTOTYPE</a:t>
            </a:r>
          </a:p>
        </p:txBody>
      </p:sp>
      <p:sp>
        <p:nvSpPr>
          <p:cNvPr id="221" name="Text 36"/>
          <p:cNvSpPr txBox="1"/>
          <p:nvPr/>
        </p:nvSpPr>
        <p:spPr>
          <a:xfrm>
            <a:off x="7587863" y="4041647"/>
            <a:ext cx="3657605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AIPage is implemented as a user-space OSSP research prototype and does not modify the Linux kernel.</a:t>
            </a:r>
          </a:p>
        </p:txBody>
      </p:sp>
      <p:sp>
        <p:nvSpPr>
          <p:cNvPr id="222" name="Text 37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223" name="Text 38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05 / 10</a:t>
            </a:r>
          </a:p>
        </p:txBody>
      </p:sp>
      <p:pic>
        <p:nvPicPr>
          <p:cNvPr id="224" name="Screenshot 2026-09-11 at 8.20.26 PM.png" descr="Screenshot 2026-09-11 at 8.20.26 PM.png"/>
          <p:cNvPicPr>
            <a:picLocks noChangeAspect="1"/>
          </p:cNvPicPr>
          <p:nvPr/>
        </p:nvPicPr>
        <p:blipFill>
          <a:blip r:embed="rId2">
            <a:extLst/>
          </a:blip>
          <a:srcRect l="0" t="14144" r="1399" b="28617"/>
          <a:stretch>
            <a:fillRect/>
          </a:stretch>
        </p:blipFill>
        <p:spPr>
          <a:xfrm>
            <a:off x="482623" y="3549648"/>
            <a:ext cx="6633535" cy="25043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227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AIPage User Interface — Live Memory Management</a:t>
            </a:r>
          </a:p>
        </p:txBody>
      </p:sp>
      <p:sp>
        <p:nvSpPr>
          <p:cNvPr id="228" name="Text 3"/>
          <p:cNvSpPr txBox="1"/>
          <p:nvPr/>
        </p:nvSpPr>
        <p:spPr>
          <a:xfrm>
            <a:off x="777240" y="3522717"/>
            <a:ext cx="7315201" cy="361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▦  SCREENSHOT PLACEHOLDER</a:t>
            </a:r>
          </a:p>
          <a:p>
            <a:pPr algn="ctr">
              <a:defRPr i="1"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[Insert final AIPage GUI screenshot here]</a:t>
            </a:r>
          </a:p>
        </p:txBody>
      </p:sp>
      <p:sp>
        <p:nvSpPr>
          <p:cNvPr id="229" name="Shape 4"/>
          <p:cNvSpPr/>
          <p:nvPr/>
        </p:nvSpPr>
        <p:spPr>
          <a:xfrm>
            <a:off x="8705270" y="1234438"/>
            <a:ext cx="2999054" cy="4937763"/>
          </a:xfrm>
          <a:prstGeom prst="roundRect">
            <a:avLst>
              <a:gd name="adj" fmla="val 2744"/>
            </a:avLst>
          </a:prstGeom>
          <a:solidFill>
            <a:srgbClr val="F5F7FA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" name="Text 5"/>
          <p:cNvSpPr txBox="1"/>
          <p:nvPr/>
        </p:nvSpPr>
        <p:spPr>
          <a:xfrm>
            <a:off x="8778240" y="1441624"/>
            <a:ext cx="27432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KEY UI ELEMENTS</a:t>
            </a:r>
          </a:p>
        </p:txBody>
      </p:sp>
      <p:sp>
        <p:nvSpPr>
          <p:cNvPr id="231" name="Shape 6"/>
          <p:cNvSpPr/>
          <p:nvPr/>
        </p:nvSpPr>
        <p:spPr>
          <a:xfrm>
            <a:off x="8778240" y="1773933"/>
            <a:ext cx="91447" cy="91446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2" name="Text 7"/>
          <p:cNvSpPr txBox="1"/>
          <p:nvPr/>
        </p:nvSpPr>
        <p:spPr>
          <a:xfrm>
            <a:off x="8979406" y="1779952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Live Linux Processes</a:t>
            </a:r>
          </a:p>
        </p:txBody>
      </p:sp>
      <p:sp>
        <p:nvSpPr>
          <p:cNvPr id="233" name="Shape 8"/>
          <p:cNvSpPr/>
          <p:nvPr/>
        </p:nvSpPr>
        <p:spPr>
          <a:xfrm>
            <a:off x="8778240" y="2231133"/>
            <a:ext cx="91447" cy="91446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" name="Text 9"/>
          <p:cNvSpPr txBox="1"/>
          <p:nvPr/>
        </p:nvSpPr>
        <p:spPr>
          <a:xfrm>
            <a:off x="8979406" y="2237152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Current Page</a:t>
            </a:r>
          </a:p>
        </p:txBody>
      </p:sp>
      <p:sp>
        <p:nvSpPr>
          <p:cNvPr id="235" name="Shape 10"/>
          <p:cNvSpPr/>
          <p:nvPr/>
        </p:nvSpPr>
        <p:spPr>
          <a:xfrm>
            <a:off x="8778240" y="2688333"/>
            <a:ext cx="91447" cy="91446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" name="Text 11"/>
          <p:cNvSpPr txBox="1"/>
          <p:nvPr/>
        </p:nvSpPr>
        <p:spPr>
          <a:xfrm>
            <a:off x="8979406" y="2694352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Predicted Next Page</a:t>
            </a:r>
          </a:p>
        </p:txBody>
      </p:sp>
      <p:sp>
        <p:nvSpPr>
          <p:cNvPr id="237" name="Shape 12"/>
          <p:cNvSpPr/>
          <p:nvPr/>
        </p:nvSpPr>
        <p:spPr>
          <a:xfrm>
            <a:off x="8778240" y="3145533"/>
            <a:ext cx="91447" cy="91446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" name="Text 13"/>
          <p:cNvSpPr txBox="1"/>
          <p:nvPr/>
        </p:nvSpPr>
        <p:spPr>
          <a:xfrm>
            <a:off x="8979406" y="3151552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Prediction Confidence</a:t>
            </a:r>
          </a:p>
        </p:txBody>
      </p:sp>
      <p:sp>
        <p:nvSpPr>
          <p:cNvPr id="239" name="Shape 14"/>
          <p:cNvSpPr/>
          <p:nvPr/>
        </p:nvSpPr>
        <p:spPr>
          <a:xfrm>
            <a:off x="8778240" y="3602735"/>
            <a:ext cx="91447" cy="9144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" name="Text 15"/>
          <p:cNvSpPr txBox="1"/>
          <p:nvPr/>
        </p:nvSpPr>
        <p:spPr>
          <a:xfrm>
            <a:off x="8979406" y="3608754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Prediction Result</a:t>
            </a:r>
          </a:p>
        </p:txBody>
      </p:sp>
      <p:sp>
        <p:nvSpPr>
          <p:cNvPr id="241" name="Shape 16"/>
          <p:cNvSpPr/>
          <p:nvPr/>
        </p:nvSpPr>
        <p:spPr>
          <a:xfrm>
            <a:off x="8778240" y="4059935"/>
            <a:ext cx="91447" cy="9144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Text 17"/>
          <p:cNvSpPr txBox="1"/>
          <p:nvPr/>
        </p:nvSpPr>
        <p:spPr>
          <a:xfrm>
            <a:off x="8979406" y="4065954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Resident Frames</a:t>
            </a:r>
          </a:p>
        </p:txBody>
      </p:sp>
      <p:sp>
        <p:nvSpPr>
          <p:cNvPr id="243" name="Shape 18"/>
          <p:cNvSpPr/>
          <p:nvPr/>
        </p:nvSpPr>
        <p:spPr>
          <a:xfrm>
            <a:off x="8778240" y="4517135"/>
            <a:ext cx="91447" cy="9144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Text 19"/>
          <p:cNvSpPr txBox="1"/>
          <p:nvPr/>
        </p:nvSpPr>
        <p:spPr>
          <a:xfrm>
            <a:off x="8979406" y="4523154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HIT / FAULT</a:t>
            </a:r>
          </a:p>
        </p:txBody>
      </p:sp>
      <p:sp>
        <p:nvSpPr>
          <p:cNvPr id="245" name="Shape 20"/>
          <p:cNvSpPr/>
          <p:nvPr/>
        </p:nvSpPr>
        <p:spPr>
          <a:xfrm>
            <a:off x="8778240" y="4974335"/>
            <a:ext cx="91447" cy="9144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Text 21"/>
          <p:cNvSpPr txBox="1"/>
          <p:nvPr/>
        </p:nvSpPr>
        <p:spPr>
          <a:xfrm>
            <a:off x="8979406" y="4980354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Victim Page</a:t>
            </a:r>
          </a:p>
        </p:txBody>
      </p:sp>
      <p:sp>
        <p:nvSpPr>
          <p:cNvPr id="247" name="Shape 22"/>
          <p:cNvSpPr/>
          <p:nvPr/>
        </p:nvSpPr>
        <p:spPr>
          <a:xfrm>
            <a:off x="8778240" y="5431535"/>
            <a:ext cx="91447" cy="91447"/>
          </a:xfrm>
          <a:prstGeom prst="ellipse">
            <a:avLst/>
          </a:prstGeom>
          <a:solidFill>
            <a:srgbClr val="6C4AB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Text 23"/>
          <p:cNvSpPr txBox="1"/>
          <p:nvPr/>
        </p:nvSpPr>
        <p:spPr>
          <a:xfrm>
            <a:off x="8979406" y="5437554"/>
            <a:ext cx="260604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 Decision</a:t>
            </a:r>
          </a:p>
        </p:txBody>
      </p:sp>
      <p:sp>
        <p:nvSpPr>
          <p:cNvPr id="249" name="Shape 24"/>
          <p:cNvSpPr/>
          <p:nvPr/>
        </p:nvSpPr>
        <p:spPr>
          <a:xfrm>
            <a:off x="502919" y="6257290"/>
            <a:ext cx="7863841" cy="12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Text 25"/>
          <p:cNvSpPr txBox="1"/>
          <p:nvPr/>
        </p:nvSpPr>
        <p:spPr>
          <a:xfrm>
            <a:off x="502919" y="6326939"/>
            <a:ext cx="786384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Real-time monitoring  →  Prediction  →  Memory decision  →  Validation</a:t>
            </a:r>
          </a:p>
        </p:txBody>
      </p:sp>
      <p:sp>
        <p:nvSpPr>
          <p:cNvPr id="251" name="Text 26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252" name="Text 27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06 / 10</a:t>
            </a:r>
          </a:p>
        </p:txBody>
      </p:sp>
      <p:pic>
        <p:nvPicPr>
          <p:cNvPr id="253" name="Screenshot 2026-09-11 at 8.20.50 PM.png" descr="Screenshot 2026-09-11 at 8.20.50 PM.png"/>
          <p:cNvPicPr>
            <a:picLocks noChangeAspect="1"/>
          </p:cNvPicPr>
          <p:nvPr/>
        </p:nvPicPr>
        <p:blipFill>
          <a:blip r:embed="rId2">
            <a:extLst/>
          </a:blip>
          <a:srcRect l="0" t="6934" r="12226" b="1541"/>
          <a:stretch>
            <a:fillRect/>
          </a:stretch>
        </p:blipFill>
        <p:spPr>
          <a:xfrm>
            <a:off x="592189" y="1363051"/>
            <a:ext cx="6740828" cy="45710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256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Experimental Setup &amp; Test Cases</a:t>
            </a:r>
          </a:p>
        </p:txBody>
      </p:sp>
      <p:sp>
        <p:nvSpPr>
          <p:cNvPr id="257" name="Shape 2"/>
          <p:cNvSpPr/>
          <p:nvPr/>
        </p:nvSpPr>
        <p:spPr>
          <a:xfrm>
            <a:off x="502919" y="1207008"/>
            <a:ext cx="6858001" cy="2331723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Text 3"/>
          <p:cNvSpPr txBox="1"/>
          <p:nvPr/>
        </p:nvSpPr>
        <p:spPr>
          <a:xfrm>
            <a:off x="731516" y="1377618"/>
            <a:ext cx="457200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EXPERIMENTAL DESIGN</a:t>
            </a:r>
          </a:p>
        </p:txBody>
      </p:sp>
      <p:sp>
        <p:nvSpPr>
          <p:cNvPr id="259" name="Text 4"/>
          <p:cNvSpPr txBox="1"/>
          <p:nvPr/>
        </p:nvSpPr>
        <p:spPr>
          <a:xfrm>
            <a:off x="731519" y="1705399"/>
            <a:ext cx="18288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Algorithms</a:t>
            </a:r>
          </a:p>
        </p:txBody>
      </p:sp>
      <p:sp>
        <p:nvSpPr>
          <p:cNvPr id="260" name="Shape 5"/>
          <p:cNvSpPr/>
          <p:nvPr/>
        </p:nvSpPr>
        <p:spPr>
          <a:xfrm>
            <a:off x="2651760" y="1627632"/>
            <a:ext cx="1280164" cy="329188"/>
          </a:xfrm>
          <a:prstGeom prst="roundRect">
            <a:avLst>
              <a:gd name="adj" fmla="val 22222"/>
            </a:avLst>
          </a:prstGeom>
          <a:solidFill>
            <a:srgbClr val="EFEAFA"/>
          </a:solidFill>
          <a:ln w="12700">
            <a:solidFill>
              <a:srgbClr val="6C4AB6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Text 6"/>
          <p:cNvSpPr txBox="1"/>
          <p:nvPr/>
        </p:nvSpPr>
        <p:spPr>
          <a:xfrm>
            <a:off x="2651760" y="1723688"/>
            <a:ext cx="12801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AIPage</a:t>
            </a:r>
          </a:p>
        </p:txBody>
      </p:sp>
      <p:sp>
        <p:nvSpPr>
          <p:cNvPr id="262" name="Shape 7"/>
          <p:cNvSpPr/>
          <p:nvPr/>
        </p:nvSpPr>
        <p:spPr>
          <a:xfrm>
            <a:off x="4069079" y="1627632"/>
            <a:ext cx="1280164" cy="329188"/>
          </a:xfrm>
          <a:prstGeom prst="roundRect">
            <a:avLst>
              <a:gd name="adj" fmla="val 22222"/>
            </a:avLst>
          </a:prstGeom>
          <a:solidFill>
            <a:srgbClr val="E4F1F5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Text 8"/>
          <p:cNvSpPr txBox="1"/>
          <p:nvPr/>
        </p:nvSpPr>
        <p:spPr>
          <a:xfrm>
            <a:off x="4069079" y="1723688"/>
            <a:ext cx="128016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LRU</a:t>
            </a:r>
          </a:p>
        </p:txBody>
      </p:sp>
      <p:sp>
        <p:nvSpPr>
          <p:cNvPr id="264" name="Shape 9"/>
          <p:cNvSpPr/>
          <p:nvPr/>
        </p:nvSpPr>
        <p:spPr>
          <a:xfrm>
            <a:off x="5486400" y="1627632"/>
            <a:ext cx="1280162" cy="329188"/>
          </a:xfrm>
          <a:prstGeom prst="roundRect">
            <a:avLst>
              <a:gd name="adj" fmla="val 22222"/>
            </a:avLst>
          </a:prstGeom>
          <a:solidFill>
            <a:srgbClr val="E4F1F5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Text 10"/>
          <p:cNvSpPr txBox="1"/>
          <p:nvPr/>
        </p:nvSpPr>
        <p:spPr>
          <a:xfrm>
            <a:off x="5486398" y="1723688"/>
            <a:ext cx="128016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FIFO</a:t>
            </a:r>
          </a:p>
        </p:txBody>
      </p:sp>
      <p:sp>
        <p:nvSpPr>
          <p:cNvPr id="266" name="Text 11"/>
          <p:cNvSpPr txBox="1"/>
          <p:nvPr/>
        </p:nvSpPr>
        <p:spPr>
          <a:xfrm>
            <a:off x="731519" y="2144310"/>
            <a:ext cx="18288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Workloads</a:t>
            </a:r>
          </a:p>
        </p:txBody>
      </p:sp>
      <p:sp>
        <p:nvSpPr>
          <p:cNvPr id="267" name="Shape 12"/>
          <p:cNvSpPr/>
          <p:nvPr/>
        </p:nvSpPr>
        <p:spPr>
          <a:xfrm>
            <a:off x="2651760" y="2066544"/>
            <a:ext cx="987556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Text 13"/>
          <p:cNvSpPr txBox="1"/>
          <p:nvPr/>
        </p:nvSpPr>
        <p:spPr>
          <a:xfrm>
            <a:off x="2651760" y="2167633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Locality</a:t>
            </a:r>
          </a:p>
        </p:txBody>
      </p:sp>
      <p:sp>
        <p:nvSpPr>
          <p:cNvPr id="269" name="Shape 14"/>
          <p:cNvSpPr/>
          <p:nvPr/>
        </p:nvSpPr>
        <p:spPr>
          <a:xfrm>
            <a:off x="3712464" y="2066544"/>
            <a:ext cx="987556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Text 15"/>
          <p:cNvSpPr txBox="1"/>
          <p:nvPr/>
        </p:nvSpPr>
        <p:spPr>
          <a:xfrm>
            <a:off x="3712464" y="2167633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Random</a:t>
            </a:r>
          </a:p>
        </p:txBody>
      </p:sp>
      <p:sp>
        <p:nvSpPr>
          <p:cNvPr id="271" name="Shape 16"/>
          <p:cNvSpPr/>
          <p:nvPr/>
        </p:nvSpPr>
        <p:spPr>
          <a:xfrm>
            <a:off x="4773167" y="2066544"/>
            <a:ext cx="987556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Text 17"/>
          <p:cNvSpPr txBox="1"/>
          <p:nvPr/>
        </p:nvSpPr>
        <p:spPr>
          <a:xfrm>
            <a:off x="4773167" y="2167633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Sequential</a:t>
            </a:r>
          </a:p>
        </p:txBody>
      </p:sp>
      <p:sp>
        <p:nvSpPr>
          <p:cNvPr id="273" name="Shape 18"/>
          <p:cNvSpPr/>
          <p:nvPr/>
        </p:nvSpPr>
        <p:spPr>
          <a:xfrm>
            <a:off x="5833871" y="2066544"/>
            <a:ext cx="987556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Text 19"/>
          <p:cNvSpPr txBox="1"/>
          <p:nvPr/>
        </p:nvSpPr>
        <p:spPr>
          <a:xfrm>
            <a:off x="5833871" y="2167633"/>
            <a:ext cx="9875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Strided</a:t>
            </a:r>
          </a:p>
        </p:txBody>
      </p:sp>
      <p:sp>
        <p:nvSpPr>
          <p:cNvPr id="275" name="Text 20"/>
          <p:cNvSpPr txBox="1"/>
          <p:nvPr/>
        </p:nvSpPr>
        <p:spPr>
          <a:xfrm>
            <a:off x="731519" y="2583221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Frame Sizes</a:t>
            </a:r>
          </a:p>
        </p:txBody>
      </p:sp>
      <p:sp>
        <p:nvSpPr>
          <p:cNvPr id="276" name="Shape 21"/>
          <p:cNvSpPr/>
          <p:nvPr/>
        </p:nvSpPr>
        <p:spPr>
          <a:xfrm>
            <a:off x="2651760" y="2505455"/>
            <a:ext cx="548644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Text 22"/>
          <p:cNvSpPr txBox="1"/>
          <p:nvPr/>
        </p:nvSpPr>
        <p:spPr>
          <a:xfrm>
            <a:off x="2651760" y="2601510"/>
            <a:ext cx="548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78" name="Shape 23"/>
          <p:cNvSpPr/>
          <p:nvPr/>
        </p:nvSpPr>
        <p:spPr>
          <a:xfrm>
            <a:off x="3273552" y="2505455"/>
            <a:ext cx="548644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Text 24"/>
          <p:cNvSpPr txBox="1"/>
          <p:nvPr/>
        </p:nvSpPr>
        <p:spPr>
          <a:xfrm>
            <a:off x="3273552" y="2601510"/>
            <a:ext cx="548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0" name="Shape 25"/>
          <p:cNvSpPr/>
          <p:nvPr/>
        </p:nvSpPr>
        <p:spPr>
          <a:xfrm>
            <a:off x="3895344" y="2505455"/>
            <a:ext cx="548641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Text 26"/>
          <p:cNvSpPr txBox="1"/>
          <p:nvPr/>
        </p:nvSpPr>
        <p:spPr>
          <a:xfrm>
            <a:off x="3895344" y="2601510"/>
            <a:ext cx="548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82" name="Shape 27"/>
          <p:cNvSpPr/>
          <p:nvPr/>
        </p:nvSpPr>
        <p:spPr>
          <a:xfrm>
            <a:off x="4517135" y="2505455"/>
            <a:ext cx="548644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Text 28"/>
          <p:cNvSpPr txBox="1"/>
          <p:nvPr/>
        </p:nvSpPr>
        <p:spPr>
          <a:xfrm>
            <a:off x="4517135" y="2601510"/>
            <a:ext cx="548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84" name="Shape 29"/>
          <p:cNvSpPr/>
          <p:nvPr/>
        </p:nvSpPr>
        <p:spPr>
          <a:xfrm>
            <a:off x="5138928" y="2505455"/>
            <a:ext cx="548644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Text 30"/>
          <p:cNvSpPr txBox="1"/>
          <p:nvPr/>
        </p:nvSpPr>
        <p:spPr>
          <a:xfrm>
            <a:off x="5138928" y="2601510"/>
            <a:ext cx="548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86" name="Shape 31"/>
          <p:cNvSpPr/>
          <p:nvPr/>
        </p:nvSpPr>
        <p:spPr>
          <a:xfrm>
            <a:off x="5760720" y="2505455"/>
            <a:ext cx="548644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Text 32"/>
          <p:cNvSpPr txBox="1"/>
          <p:nvPr/>
        </p:nvSpPr>
        <p:spPr>
          <a:xfrm>
            <a:off x="5760720" y="2601510"/>
            <a:ext cx="548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88" name="Shape 33"/>
          <p:cNvSpPr/>
          <p:nvPr/>
        </p:nvSpPr>
        <p:spPr>
          <a:xfrm>
            <a:off x="6382510" y="2505455"/>
            <a:ext cx="548644" cy="3291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Text 34"/>
          <p:cNvSpPr txBox="1"/>
          <p:nvPr/>
        </p:nvSpPr>
        <p:spPr>
          <a:xfrm>
            <a:off x="6382510" y="2601510"/>
            <a:ext cx="5486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90" name="Shape 35"/>
          <p:cNvSpPr/>
          <p:nvPr/>
        </p:nvSpPr>
        <p:spPr>
          <a:xfrm>
            <a:off x="731519" y="2999232"/>
            <a:ext cx="6355082" cy="438916"/>
          </a:xfrm>
          <a:prstGeom prst="roundRect">
            <a:avLst>
              <a:gd name="adj" fmla="val 18750"/>
            </a:avLst>
          </a:prstGeom>
          <a:solidFill>
            <a:srgbClr val="0F2942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Text 36"/>
          <p:cNvSpPr txBox="1"/>
          <p:nvPr/>
        </p:nvSpPr>
        <p:spPr>
          <a:xfrm>
            <a:off x="731520" y="3135307"/>
            <a:ext cx="63550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 Algorithms  ×  4 Workloads  ×  7 Frame Sizes  =  28 Configurations</a:t>
            </a:r>
          </a:p>
        </p:txBody>
      </p:sp>
      <p:sp>
        <p:nvSpPr>
          <p:cNvPr id="292" name="Shape 37"/>
          <p:cNvSpPr/>
          <p:nvPr/>
        </p:nvSpPr>
        <p:spPr>
          <a:xfrm>
            <a:off x="7571230" y="1207008"/>
            <a:ext cx="4114804" cy="2331723"/>
          </a:xfrm>
          <a:prstGeom prst="roundRect">
            <a:avLst>
              <a:gd name="adj" fmla="val 3529"/>
            </a:avLst>
          </a:prstGeom>
          <a:solidFill>
            <a:srgbClr val="E4F1F5"/>
          </a:solidFill>
          <a:ln w="12700">
            <a:solidFill>
              <a:srgbClr val="1C7293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Text 38"/>
          <p:cNvSpPr txBox="1"/>
          <p:nvPr/>
        </p:nvSpPr>
        <p:spPr>
          <a:xfrm>
            <a:off x="7799830" y="1377618"/>
            <a:ext cx="36576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294" name="Text 39"/>
          <p:cNvSpPr txBox="1"/>
          <p:nvPr/>
        </p:nvSpPr>
        <p:spPr>
          <a:xfrm>
            <a:off x="7799830" y="1759511"/>
            <a:ext cx="365760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Hit Rate</a:t>
            </a:r>
          </a:p>
        </p:txBody>
      </p:sp>
      <p:sp>
        <p:nvSpPr>
          <p:cNvPr id="295" name="Text 40"/>
          <p:cNvSpPr txBox="1"/>
          <p:nvPr/>
        </p:nvSpPr>
        <p:spPr>
          <a:xfrm>
            <a:off x="7799830" y="2189277"/>
            <a:ext cx="365760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Page Faults</a:t>
            </a:r>
          </a:p>
        </p:txBody>
      </p:sp>
      <p:sp>
        <p:nvSpPr>
          <p:cNvPr id="296" name="Text 41"/>
          <p:cNvSpPr txBox="1"/>
          <p:nvPr/>
        </p:nvSpPr>
        <p:spPr>
          <a:xfrm>
            <a:off x="7799830" y="2619044"/>
            <a:ext cx="365760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Replacements</a:t>
            </a:r>
          </a:p>
        </p:txBody>
      </p:sp>
      <p:sp>
        <p:nvSpPr>
          <p:cNvPr id="297" name="Text 42"/>
          <p:cNvSpPr txBox="1"/>
          <p:nvPr/>
        </p:nvSpPr>
        <p:spPr>
          <a:xfrm>
            <a:off x="7799830" y="3048815"/>
            <a:ext cx="365760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Next-page Prediction Accuracy</a:t>
            </a:r>
          </a:p>
        </p:txBody>
      </p:sp>
      <p:sp>
        <p:nvSpPr>
          <p:cNvPr id="298" name="Shape 43"/>
          <p:cNvSpPr/>
          <p:nvPr/>
        </p:nvSpPr>
        <p:spPr>
          <a:xfrm>
            <a:off x="502919" y="3703320"/>
            <a:ext cx="11201401" cy="2606044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Text 44"/>
          <p:cNvSpPr txBox="1"/>
          <p:nvPr/>
        </p:nvSpPr>
        <p:spPr>
          <a:xfrm>
            <a:off x="731516" y="3892217"/>
            <a:ext cx="4572006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TEST CASES</a:t>
            </a:r>
          </a:p>
        </p:txBody>
      </p:sp>
      <p:sp>
        <p:nvSpPr>
          <p:cNvPr id="300" name="Shape 45"/>
          <p:cNvSpPr/>
          <p:nvPr/>
        </p:nvSpPr>
        <p:spPr>
          <a:xfrm>
            <a:off x="777240" y="4206240"/>
            <a:ext cx="2011680" cy="1417324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Text 46"/>
          <p:cNvSpPr txBox="1"/>
          <p:nvPr/>
        </p:nvSpPr>
        <p:spPr>
          <a:xfrm>
            <a:off x="777240" y="4398517"/>
            <a:ext cx="201167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6C4A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TC1</a:t>
            </a:r>
          </a:p>
        </p:txBody>
      </p:sp>
      <p:sp>
        <p:nvSpPr>
          <p:cNvPr id="302" name="Text 47"/>
          <p:cNvSpPr txBox="1"/>
          <p:nvPr/>
        </p:nvSpPr>
        <p:spPr>
          <a:xfrm>
            <a:off x="868680" y="4846320"/>
            <a:ext cx="18288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Locality workload</a:t>
            </a:r>
          </a:p>
        </p:txBody>
      </p:sp>
      <p:sp>
        <p:nvSpPr>
          <p:cNvPr id="303" name="Shape 48"/>
          <p:cNvSpPr/>
          <p:nvPr/>
        </p:nvSpPr>
        <p:spPr>
          <a:xfrm>
            <a:off x="2953511" y="4206240"/>
            <a:ext cx="2011684" cy="1417324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Text 49"/>
          <p:cNvSpPr txBox="1"/>
          <p:nvPr/>
        </p:nvSpPr>
        <p:spPr>
          <a:xfrm>
            <a:off x="2953511" y="4398517"/>
            <a:ext cx="2011679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6C4A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TC2</a:t>
            </a:r>
          </a:p>
        </p:txBody>
      </p:sp>
      <p:sp>
        <p:nvSpPr>
          <p:cNvPr id="305" name="Text 50"/>
          <p:cNvSpPr txBox="1"/>
          <p:nvPr/>
        </p:nvSpPr>
        <p:spPr>
          <a:xfrm>
            <a:off x="3044950" y="4846320"/>
            <a:ext cx="18288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Random workload</a:t>
            </a:r>
          </a:p>
        </p:txBody>
      </p:sp>
      <p:sp>
        <p:nvSpPr>
          <p:cNvPr id="306" name="Shape 51"/>
          <p:cNvSpPr/>
          <p:nvPr/>
        </p:nvSpPr>
        <p:spPr>
          <a:xfrm>
            <a:off x="5129784" y="4206240"/>
            <a:ext cx="2011684" cy="1417324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Text 52"/>
          <p:cNvSpPr txBox="1"/>
          <p:nvPr/>
        </p:nvSpPr>
        <p:spPr>
          <a:xfrm>
            <a:off x="5129784" y="4398517"/>
            <a:ext cx="20116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6C4A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TC3</a:t>
            </a:r>
          </a:p>
        </p:txBody>
      </p:sp>
      <p:sp>
        <p:nvSpPr>
          <p:cNvPr id="308" name="Text 53"/>
          <p:cNvSpPr txBox="1"/>
          <p:nvPr/>
        </p:nvSpPr>
        <p:spPr>
          <a:xfrm>
            <a:off x="5221223" y="4846320"/>
            <a:ext cx="18288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Sequential workload</a:t>
            </a:r>
          </a:p>
        </p:txBody>
      </p:sp>
      <p:sp>
        <p:nvSpPr>
          <p:cNvPr id="309" name="Shape 54"/>
          <p:cNvSpPr/>
          <p:nvPr/>
        </p:nvSpPr>
        <p:spPr>
          <a:xfrm>
            <a:off x="7306056" y="4206240"/>
            <a:ext cx="2011684" cy="1417324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Text 55"/>
          <p:cNvSpPr txBox="1"/>
          <p:nvPr/>
        </p:nvSpPr>
        <p:spPr>
          <a:xfrm>
            <a:off x="7306056" y="4398517"/>
            <a:ext cx="20116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6C4A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TC4</a:t>
            </a:r>
          </a:p>
        </p:txBody>
      </p:sp>
      <p:sp>
        <p:nvSpPr>
          <p:cNvPr id="311" name="Text 56"/>
          <p:cNvSpPr txBox="1"/>
          <p:nvPr/>
        </p:nvSpPr>
        <p:spPr>
          <a:xfrm>
            <a:off x="7397494" y="4846320"/>
            <a:ext cx="18288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Strided workload</a:t>
            </a:r>
          </a:p>
        </p:txBody>
      </p:sp>
      <p:sp>
        <p:nvSpPr>
          <p:cNvPr id="312" name="Shape 57"/>
          <p:cNvSpPr/>
          <p:nvPr/>
        </p:nvSpPr>
        <p:spPr>
          <a:xfrm>
            <a:off x="9482328" y="4206240"/>
            <a:ext cx="2011684" cy="1417324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Text 58"/>
          <p:cNvSpPr txBox="1"/>
          <p:nvPr/>
        </p:nvSpPr>
        <p:spPr>
          <a:xfrm>
            <a:off x="9482328" y="4398517"/>
            <a:ext cx="20116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6C4A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TC5</a:t>
            </a:r>
          </a:p>
        </p:txBody>
      </p:sp>
      <p:sp>
        <p:nvSpPr>
          <p:cNvPr id="314" name="Text 59"/>
          <p:cNvSpPr txBox="1"/>
          <p:nvPr/>
        </p:nvSpPr>
        <p:spPr>
          <a:xfrm>
            <a:off x="9573768" y="4846320"/>
            <a:ext cx="182880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Real Linux memory trace</a:t>
            </a:r>
          </a:p>
        </p:txBody>
      </p:sp>
      <p:sp>
        <p:nvSpPr>
          <p:cNvPr id="315" name="Text 60"/>
          <p:cNvSpPr txBox="1"/>
          <p:nvPr/>
        </p:nvSpPr>
        <p:spPr>
          <a:xfrm>
            <a:off x="777240" y="5922186"/>
            <a:ext cx="106527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AIPage, LRU and FIFO are evaluated under controlled, comparable workloads across all test cases.</a:t>
            </a:r>
          </a:p>
        </p:txBody>
      </p:sp>
      <p:sp>
        <p:nvSpPr>
          <p:cNvPr id="316" name="Text 61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317" name="Text 62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07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320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Method Evaluation — Real Memory Benchmark</a:t>
            </a:r>
          </a:p>
        </p:txBody>
      </p:sp>
      <p:graphicFrame>
        <p:nvGraphicFramePr>
          <p:cNvPr id="321" name="Table 0"/>
          <p:cNvGraphicFramePr/>
          <p:nvPr/>
        </p:nvGraphicFramePr>
        <p:xfrm>
          <a:off x="502919" y="1234438"/>
          <a:ext cx="5577843" cy="20574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8800"/>
                <a:gridCol w="1280160"/>
                <a:gridCol w="1234440"/>
                <a:gridCol w="123444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AIPage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LRU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FIFO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0F294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Accesses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6C4AB6"/>
                          </a:solidFill>
                        </a:rPr>
                        <a:t>1000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1000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1000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Hits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6C4AB6"/>
                          </a:solidFill>
                        </a:rPr>
                        <a:t>281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58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56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Faults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6C4AB6"/>
                          </a:solidFill>
                        </a:rPr>
                        <a:t>719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942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944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Replacements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6C4AB6"/>
                          </a:solidFill>
                        </a:rPr>
                        <a:t>715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938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F2937"/>
                          </a:solidFill>
                        </a:rPr>
                        <a:t>940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2937"/>
                          </a:solidFill>
                        </a:rPr>
                        <a:t>Hit Rate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6C4AB6"/>
                          </a:solidFill>
                        </a:rPr>
                        <a:t>28.10%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F2937"/>
                          </a:solidFill>
                        </a:rPr>
                        <a:t>5.80%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F2937"/>
                          </a:solidFill>
                        </a:rPr>
                        <a:t>5.60%</a:t>
                      </a:r>
                    </a:p>
                  </a:txBody>
                  <a:tcPr marL="38100" marR="38100" marT="38100" marB="38100" anchor="ctr" anchorCtr="0" horzOverflow="overflow">
                    <a:lnL>
                      <a:solidFill>
                        <a:srgbClr val="DFE4EA"/>
                      </a:solidFill>
                    </a:lnL>
                    <a:lnR>
                      <a:solidFill>
                        <a:srgbClr val="DFE4EA"/>
                      </a:solidFill>
                    </a:lnR>
                    <a:lnT>
                      <a:solidFill>
                        <a:srgbClr val="DFE4EA"/>
                      </a:solidFill>
                    </a:lnT>
                    <a:lnB>
                      <a:solidFill>
                        <a:srgbClr val="DFE4EA"/>
                      </a:solidFill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322" name="Shape 2"/>
          <p:cNvSpPr/>
          <p:nvPr/>
        </p:nvSpPr>
        <p:spPr>
          <a:xfrm>
            <a:off x="502919" y="3520440"/>
            <a:ext cx="5577843" cy="1417324"/>
          </a:xfrm>
          <a:prstGeom prst="roundRect">
            <a:avLst>
              <a:gd name="adj" fmla="val 5806"/>
            </a:avLst>
          </a:prstGeom>
          <a:solidFill>
            <a:srgbClr val="EFEAFA"/>
          </a:solidFill>
          <a:ln w="12700">
            <a:solidFill>
              <a:srgbClr val="6C4AB6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Text 3"/>
          <p:cNvSpPr txBox="1"/>
          <p:nvPr/>
        </p:nvSpPr>
        <p:spPr>
          <a:xfrm>
            <a:off x="731516" y="3689648"/>
            <a:ext cx="457200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NEXT-PAGE PREDICTION</a:t>
            </a:r>
          </a:p>
        </p:txBody>
      </p:sp>
      <p:sp>
        <p:nvSpPr>
          <p:cNvPr id="324" name="Text 4"/>
          <p:cNvSpPr txBox="1"/>
          <p:nvPr/>
        </p:nvSpPr>
        <p:spPr>
          <a:xfrm>
            <a:off x="731516" y="3995001"/>
            <a:ext cx="5120647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986 </a:t>
            </a:r>
            <a:r>
              <a:rPr b="0" sz="1200">
                <a:solidFill>
                  <a:srgbClr val="1F2937"/>
                </a:solidFill>
              </a:rPr>
              <a:t>predictions   •   </a:t>
            </a:r>
            <a:r>
              <a:t>545 </a:t>
            </a:r>
            <a:r>
              <a:rPr b="0" sz="1200">
                <a:solidFill>
                  <a:srgbClr val="1F2937"/>
                </a:solidFill>
              </a:rPr>
              <a:t>correct</a:t>
            </a:r>
          </a:p>
        </p:txBody>
      </p:sp>
      <p:sp>
        <p:nvSpPr>
          <p:cNvPr id="325" name="Text 5"/>
          <p:cNvSpPr txBox="1"/>
          <p:nvPr/>
        </p:nvSpPr>
        <p:spPr>
          <a:xfrm>
            <a:off x="731516" y="4434332"/>
            <a:ext cx="512064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6C4AB6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55.27% accuracy</a:t>
            </a:r>
          </a:p>
        </p:txBody>
      </p:sp>
      <p:sp>
        <p:nvSpPr>
          <p:cNvPr id="326" name="Shape 6"/>
          <p:cNvSpPr/>
          <p:nvPr/>
        </p:nvSpPr>
        <p:spPr>
          <a:xfrm>
            <a:off x="7021379" y="3520440"/>
            <a:ext cx="4645953" cy="1417324"/>
          </a:xfrm>
          <a:prstGeom prst="roundRect">
            <a:avLst>
              <a:gd name="adj" fmla="val 5806"/>
            </a:avLst>
          </a:prstGeom>
          <a:solidFill>
            <a:srgbClr val="0F2942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Text 7"/>
          <p:cNvSpPr txBox="1"/>
          <p:nvPr/>
        </p:nvSpPr>
        <p:spPr>
          <a:xfrm>
            <a:off x="7599991" y="3793997"/>
            <a:ext cx="376216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>
                <a:solidFill>
                  <a:srgbClr val="8FD3E8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+22.30 pp  </a:t>
            </a:r>
            <a:r>
              <a:rPr sz="1000">
                <a:solidFill>
                  <a:srgbClr val="FFFFFF"/>
                </a:solidFill>
              </a:rPr>
              <a:t>vs LRU</a:t>
            </a:r>
          </a:p>
        </p:txBody>
      </p:sp>
      <p:sp>
        <p:nvSpPr>
          <p:cNvPr id="328" name="Shape 8"/>
          <p:cNvSpPr/>
          <p:nvPr/>
        </p:nvSpPr>
        <p:spPr>
          <a:xfrm>
            <a:off x="8543811" y="4261103"/>
            <a:ext cx="1874524" cy="4"/>
          </a:xfrm>
          <a:prstGeom prst="line">
            <a:avLst/>
          </a:prstGeom>
          <a:ln w="12700">
            <a:solidFill>
              <a:srgbClr val="2B4B6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9" name="Text 9"/>
          <p:cNvSpPr txBox="1"/>
          <p:nvPr/>
        </p:nvSpPr>
        <p:spPr>
          <a:xfrm>
            <a:off x="7486422" y="4461509"/>
            <a:ext cx="3989297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>
                <a:solidFill>
                  <a:srgbClr val="8FD3E8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+22.50 pp  </a:t>
            </a:r>
            <a:r>
              <a:rPr sz="1000">
                <a:solidFill>
                  <a:srgbClr val="FFFFFF"/>
                </a:solidFill>
              </a:rPr>
              <a:t>vs FIFO</a:t>
            </a:r>
          </a:p>
        </p:txBody>
      </p:sp>
      <p:sp>
        <p:nvSpPr>
          <p:cNvPr id="330" name="Text 12"/>
          <p:cNvSpPr txBox="1"/>
          <p:nvPr/>
        </p:nvSpPr>
        <p:spPr>
          <a:xfrm>
            <a:off x="502916" y="5257844"/>
            <a:ext cx="11201407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Results are specific to the tested 1000-access real-memory trace. This does not imply AIPage universally outperforms LRU/FIFO.</a:t>
            </a:r>
          </a:p>
        </p:txBody>
      </p:sp>
      <p:sp>
        <p:nvSpPr>
          <p:cNvPr id="331" name="Text 13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332" name="Text 14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08 / 10</a:t>
            </a:r>
          </a:p>
        </p:txBody>
      </p:sp>
      <p:pic>
        <p:nvPicPr>
          <p:cNvPr id="333" name="Screenshot 2026-09-12 at 11.27.30 AM.png" descr="Screenshot 2026-09-12 at 11.27.30 AM.png"/>
          <p:cNvPicPr>
            <a:picLocks noChangeAspect="1"/>
          </p:cNvPicPr>
          <p:nvPr/>
        </p:nvPicPr>
        <p:blipFill>
          <a:blip r:embed="rId2">
            <a:extLst/>
          </a:blip>
          <a:srcRect l="40437" t="64319" r="18030" b="3807"/>
          <a:stretch>
            <a:fillRect/>
          </a:stretch>
        </p:blipFill>
        <p:spPr>
          <a:xfrm>
            <a:off x="7147872" y="1183439"/>
            <a:ext cx="4214225" cy="21032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 txBox="1"/>
          <p:nvPr/>
        </p:nvSpPr>
        <p:spPr>
          <a:xfrm>
            <a:off x="502919" y="351334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</a:t>
            </a:r>
          </a:p>
        </p:txBody>
      </p:sp>
      <p:sp>
        <p:nvSpPr>
          <p:cNvPr id="336" name="Text 1"/>
          <p:cNvSpPr txBox="1"/>
          <p:nvPr/>
        </p:nvSpPr>
        <p:spPr>
          <a:xfrm>
            <a:off x="502919" y="617219"/>
            <a:ext cx="1115568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F294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Validation, Methodology Evaluation &amp; Discussion</a:t>
            </a:r>
          </a:p>
        </p:txBody>
      </p:sp>
      <p:sp>
        <p:nvSpPr>
          <p:cNvPr id="337" name="Shape 2"/>
          <p:cNvSpPr/>
          <p:nvPr/>
        </p:nvSpPr>
        <p:spPr>
          <a:xfrm>
            <a:off x="502919" y="1207008"/>
            <a:ext cx="3703324" cy="2331723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Text 3"/>
          <p:cNvSpPr txBox="1"/>
          <p:nvPr/>
        </p:nvSpPr>
        <p:spPr>
          <a:xfrm>
            <a:off x="685800" y="1376215"/>
            <a:ext cx="33832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0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A. METHOD VALIDATION</a:t>
            </a:r>
          </a:p>
        </p:txBody>
      </p:sp>
      <p:sp>
        <p:nvSpPr>
          <p:cNvPr id="339" name="Shape 4"/>
          <p:cNvSpPr/>
          <p:nvPr/>
        </p:nvSpPr>
        <p:spPr>
          <a:xfrm>
            <a:off x="685800" y="1645920"/>
            <a:ext cx="3246123" cy="365764"/>
          </a:xfrm>
          <a:prstGeom prst="roundRect">
            <a:avLst>
              <a:gd name="adj" fmla="val 1750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Text 5"/>
          <p:cNvSpPr txBox="1"/>
          <p:nvPr/>
        </p:nvSpPr>
        <p:spPr>
          <a:xfrm>
            <a:off x="731516" y="1765299"/>
            <a:ext cx="31546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Controlled workload experiments</a:t>
            </a:r>
          </a:p>
        </p:txBody>
      </p:sp>
      <p:sp>
        <p:nvSpPr>
          <p:cNvPr id="341" name="Shape 6"/>
          <p:cNvSpPr/>
          <p:nvPr/>
        </p:nvSpPr>
        <p:spPr>
          <a:xfrm>
            <a:off x="2212848" y="2011677"/>
            <a:ext cx="182884" cy="91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Shape 7"/>
          <p:cNvSpPr/>
          <p:nvPr/>
        </p:nvSpPr>
        <p:spPr>
          <a:xfrm>
            <a:off x="685800" y="2103120"/>
            <a:ext cx="3246123" cy="365764"/>
          </a:xfrm>
          <a:prstGeom prst="roundRect">
            <a:avLst>
              <a:gd name="adj" fmla="val 1750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Text 8"/>
          <p:cNvSpPr txBox="1"/>
          <p:nvPr/>
        </p:nvSpPr>
        <p:spPr>
          <a:xfrm>
            <a:off x="731516" y="2222499"/>
            <a:ext cx="31546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Multiple frame sizes</a:t>
            </a:r>
          </a:p>
        </p:txBody>
      </p:sp>
      <p:sp>
        <p:nvSpPr>
          <p:cNvPr id="344" name="Shape 9"/>
          <p:cNvSpPr/>
          <p:nvPr/>
        </p:nvSpPr>
        <p:spPr>
          <a:xfrm>
            <a:off x="2212848" y="2468877"/>
            <a:ext cx="182884" cy="91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C729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Shape 10"/>
          <p:cNvSpPr/>
          <p:nvPr/>
        </p:nvSpPr>
        <p:spPr>
          <a:xfrm>
            <a:off x="685800" y="2560320"/>
            <a:ext cx="3246123" cy="365764"/>
          </a:xfrm>
          <a:prstGeom prst="roundRect">
            <a:avLst>
              <a:gd name="adj" fmla="val 17500"/>
            </a:avLst>
          </a:prstGeom>
          <a:solidFill>
            <a:srgbClr val="0F294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Text 11"/>
          <p:cNvSpPr txBox="1"/>
          <p:nvPr/>
        </p:nvSpPr>
        <p:spPr>
          <a:xfrm>
            <a:off x="731516" y="2679699"/>
            <a:ext cx="31546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AIPage / LRU / FIFO comparison</a:t>
            </a:r>
          </a:p>
        </p:txBody>
      </p:sp>
      <p:sp>
        <p:nvSpPr>
          <p:cNvPr id="347" name="Shape 12"/>
          <p:cNvSpPr/>
          <p:nvPr/>
        </p:nvSpPr>
        <p:spPr>
          <a:xfrm>
            <a:off x="4343400" y="1207008"/>
            <a:ext cx="3657600" cy="2331723"/>
          </a:xfrm>
          <a:prstGeom prst="roundRect">
            <a:avLst>
              <a:gd name="adj" fmla="val 3529"/>
            </a:avLst>
          </a:prstGeom>
          <a:solidFill>
            <a:srgbClr val="E4F1F5"/>
          </a:solidFill>
          <a:ln w="12700">
            <a:solidFill>
              <a:srgbClr val="1C7293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Text 13"/>
          <p:cNvSpPr txBox="1"/>
          <p:nvPr/>
        </p:nvSpPr>
        <p:spPr>
          <a:xfrm>
            <a:off x="4526279" y="1376215"/>
            <a:ext cx="329184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000">
                <a:solidFill>
                  <a:srgbClr val="1C7293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B. METHODOLOGY EVALUATION</a:t>
            </a:r>
          </a:p>
        </p:txBody>
      </p:sp>
      <p:sp>
        <p:nvSpPr>
          <p:cNvPr id="349" name="Text 14"/>
          <p:cNvSpPr txBox="1"/>
          <p:nvPr/>
        </p:nvSpPr>
        <p:spPr>
          <a:xfrm>
            <a:off x="4526279" y="1713543"/>
            <a:ext cx="3337560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Same workload comparison</a:t>
            </a:r>
          </a:p>
        </p:txBody>
      </p:sp>
      <p:sp>
        <p:nvSpPr>
          <p:cNvPr id="350" name="Text 15"/>
          <p:cNvSpPr txBox="1"/>
          <p:nvPr/>
        </p:nvSpPr>
        <p:spPr>
          <a:xfrm>
            <a:off x="4526279" y="2019867"/>
            <a:ext cx="3337560" cy="15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Multiple workload patterns</a:t>
            </a:r>
          </a:p>
        </p:txBody>
      </p:sp>
      <p:sp>
        <p:nvSpPr>
          <p:cNvPr id="351" name="Text 16"/>
          <p:cNvSpPr txBox="1"/>
          <p:nvPr/>
        </p:nvSpPr>
        <p:spPr>
          <a:xfrm>
            <a:off x="4526279" y="2326189"/>
            <a:ext cx="3337560" cy="15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Multiple frame capacities</a:t>
            </a:r>
          </a:p>
        </p:txBody>
      </p:sp>
      <p:sp>
        <p:nvSpPr>
          <p:cNvPr id="352" name="Text 17"/>
          <p:cNvSpPr txBox="1"/>
          <p:nvPr/>
        </p:nvSpPr>
        <p:spPr>
          <a:xfrm>
            <a:off x="4526279" y="2632515"/>
            <a:ext cx="3337560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Quantitative metrics</a:t>
            </a:r>
          </a:p>
        </p:txBody>
      </p:sp>
      <p:sp>
        <p:nvSpPr>
          <p:cNvPr id="353" name="Text 18"/>
          <p:cNvSpPr txBox="1"/>
          <p:nvPr/>
        </p:nvSpPr>
        <p:spPr>
          <a:xfrm>
            <a:off x="4526279" y="2938839"/>
            <a:ext cx="3337560" cy="15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Reproducible test setup</a:t>
            </a:r>
          </a:p>
        </p:txBody>
      </p:sp>
      <p:sp>
        <p:nvSpPr>
          <p:cNvPr id="354" name="Text 19"/>
          <p:cNvSpPr txBox="1"/>
          <p:nvPr/>
        </p:nvSpPr>
        <p:spPr>
          <a:xfrm>
            <a:off x="4526279" y="3245161"/>
            <a:ext cx="3337560" cy="15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✓  Real-memory validation</a:t>
            </a:r>
          </a:p>
        </p:txBody>
      </p:sp>
      <p:sp>
        <p:nvSpPr>
          <p:cNvPr id="355" name="Shape 20"/>
          <p:cNvSpPr/>
          <p:nvPr/>
        </p:nvSpPr>
        <p:spPr>
          <a:xfrm>
            <a:off x="502919" y="3657600"/>
            <a:ext cx="3703324" cy="1709928"/>
          </a:xfrm>
          <a:prstGeom prst="roundRect">
            <a:avLst>
              <a:gd name="adj" fmla="val 4813"/>
            </a:avLst>
          </a:prstGeom>
          <a:solidFill>
            <a:srgbClr val="F5F7FA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Text 21"/>
          <p:cNvSpPr txBox="1"/>
          <p:nvPr/>
        </p:nvSpPr>
        <p:spPr>
          <a:xfrm>
            <a:off x="685797" y="3808519"/>
            <a:ext cx="3291846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F29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Real Linux Validation</a:t>
            </a:r>
          </a:p>
        </p:txBody>
      </p:sp>
      <p:sp>
        <p:nvSpPr>
          <p:cNvPr id="357" name="Text 22"/>
          <p:cNvSpPr txBox="1"/>
          <p:nvPr/>
        </p:nvSpPr>
        <p:spPr>
          <a:xfrm>
            <a:off x="777240" y="4110270"/>
            <a:ext cx="3200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Linux /proc telemetry</a:t>
            </a:r>
          </a:p>
        </p:txBody>
      </p:sp>
      <p:sp>
        <p:nvSpPr>
          <p:cNvPr id="358" name="Text 23"/>
          <p:cNvSpPr txBox="1"/>
          <p:nvPr/>
        </p:nvSpPr>
        <p:spPr>
          <a:xfrm>
            <a:off x="777240" y="4412024"/>
            <a:ext cx="3200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Real process activity</a:t>
            </a:r>
          </a:p>
        </p:txBody>
      </p:sp>
      <p:sp>
        <p:nvSpPr>
          <p:cNvPr id="359" name="Text 24"/>
          <p:cNvSpPr txBox="1"/>
          <p:nvPr/>
        </p:nvSpPr>
        <p:spPr>
          <a:xfrm>
            <a:off x="777240" y="4713775"/>
            <a:ext cx="3200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Real-memory trace</a:t>
            </a:r>
          </a:p>
        </p:txBody>
      </p:sp>
      <p:sp>
        <p:nvSpPr>
          <p:cNvPr id="360" name="Text 25"/>
          <p:cNvSpPr txBox="1"/>
          <p:nvPr/>
        </p:nvSpPr>
        <p:spPr>
          <a:xfrm>
            <a:off x="777240" y="5015527"/>
            <a:ext cx="32004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•  Prediction verification</a:t>
            </a:r>
          </a:p>
        </p:txBody>
      </p:sp>
      <p:sp>
        <p:nvSpPr>
          <p:cNvPr id="361" name="Shape 26"/>
          <p:cNvSpPr/>
          <p:nvPr/>
        </p:nvSpPr>
        <p:spPr>
          <a:xfrm>
            <a:off x="4343400" y="3657600"/>
            <a:ext cx="3657600" cy="1709928"/>
          </a:xfrm>
          <a:prstGeom prst="roundRect">
            <a:avLst>
              <a:gd name="adj" fmla="val 4813"/>
            </a:avLst>
          </a:prstGeom>
          <a:solidFill>
            <a:srgbClr val="EFEAFA"/>
          </a:solidFill>
          <a:ln w="12700">
            <a:solidFill>
              <a:srgbClr val="6C4AB6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Text 27"/>
          <p:cNvSpPr txBox="1"/>
          <p:nvPr/>
        </p:nvSpPr>
        <p:spPr>
          <a:xfrm>
            <a:off x="4526279" y="3826807"/>
            <a:ext cx="329184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6C4AB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KEY FINDING</a:t>
            </a:r>
          </a:p>
        </p:txBody>
      </p:sp>
      <p:sp>
        <p:nvSpPr>
          <p:cNvPr id="363" name="Text 28"/>
          <p:cNvSpPr txBox="1"/>
          <p:nvPr/>
        </p:nvSpPr>
        <p:spPr>
          <a:xfrm>
            <a:off x="4526279" y="4041647"/>
            <a:ext cx="3337560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1F293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AIPage shows strong improvement on the tested real-memory trace, while evaluation across workloads shows performance is workload-dependent.</a:t>
            </a:r>
          </a:p>
        </p:txBody>
      </p:sp>
      <p:sp>
        <p:nvSpPr>
          <p:cNvPr id="364" name="Shape 29"/>
          <p:cNvSpPr/>
          <p:nvPr/>
        </p:nvSpPr>
        <p:spPr>
          <a:xfrm>
            <a:off x="8183880" y="1207008"/>
            <a:ext cx="3520444" cy="4160521"/>
          </a:xfrm>
          <a:prstGeom prst="roundRect">
            <a:avLst>
              <a:gd name="adj" fmla="val 2338"/>
            </a:avLst>
          </a:prstGeom>
          <a:solidFill>
            <a:srgbClr val="0F2942"/>
          </a:solidFill>
          <a:ln w="12700">
            <a:solidFill>
              <a:srgbClr val="DFE4EA"/>
            </a:solidFill>
          </a:ln>
          <a:effectLst>
            <a:outerShdw sx="100000" sy="100000" kx="0" ky="0" algn="b" rotWithShape="0" blurRad="76200" dist="25400" dir="5400000">
              <a:srgbClr val="9AA5B1">
                <a:alpha val="25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Text 30"/>
          <p:cNvSpPr txBox="1"/>
          <p:nvPr/>
        </p:nvSpPr>
        <p:spPr>
          <a:xfrm>
            <a:off x="8366759" y="1376215"/>
            <a:ext cx="320040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8FD3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C. DISCUSSION</a:t>
            </a:r>
          </a:p>
        </p:txBody>
      </p:sp>
      <p:sp>
        <p:nvSpPr>
          <p:cNvPr id="366" name="Text 31"/>
          <p:cNvSpPr txBox="1"/>
          <p:nvPr/>
        </p:nvSpPr>
        <p:spPr>
          <a:xfrm>
            <a:off x="8366759" y="1688513"/>
            <a:ext cx="32004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4F1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Strengths</a:t>
            </a:r>
          </a:p>
        </p:txBody>
      </p:sp>
      <p:sp>
        <p:nvSpPr>
          <p:cNvPr id="367" name="Text 32"/>
          <p:cNvSpPr txBox="1"/>
          <p:nvPr/>
        </p:nvSpPr>
        <p:spPr>
          <a:xfrm>
            <a:off x="8366759" y="1966466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+ Reuse-aware prediction</a:t>
            </a:r>
          </a:p>
        </p:txBody>
      </p:sp>
      <p:sp>
        <p:nvSpPr>
          <p:cNvPr id="368" name="Text 33"/>
          <p:cNvSpPr txBox="1"/>
          <p:nvPr/>
        </p:nvSpPr>
        <p:spPr>
          <a:xfrm>
            <a:off x="8366759" y="2222499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+ Prediction-assisted replacement</a:t>
            </a:r>
          </a:p>
        </p:txBody>
      </p:sp>
      <p:sp>
        <p:nvSpPr>
          <p:cNvPr id="369" name="Text 34"/>
          <p:cNvSpPr txBox="1"/>
          <p:nvPr/>
        </p:nvSpPr>
        <p:spPr>
          <a:xfrm>
            <a:off x="8366759" y="2478532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+ Real Linux monitoring</a:t>
            </a:r>
          </a:p>
        </p:txBody>
      </p:sp>
      <p:sp>
        <p:nvSpPr>
          <p:cNvPr id="370" name="Text 35"/>
          <p:cNvSpPr txBox="1"/>
          <p:nvPr/>
        </p:nvSpPr>
        <p:spPr>
          <a:xfrm>
            <a:off x="8366759" y="2734564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+ Integrated GUI</a:t>
            </a:r>
          </a:p>
        </p:txBody>
      </p:sp>
      <p:sp>
        <p:nvSpPr>
          <p:cNvPr id="371" name="Text 36"/>
          <p:cNvSpPr txBox="1"/>
          <p:nvPr/>
        </p:nvSpPr>
        <p:spPr>
          <a:xfrm>
            <a:off x="8366759" y="2990594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+ Quantitative evaluation</a:t>
            </a:r>
          </a:p>
        </p:txBody>
      </p:sp>
      <p:sp>
        <p:nvSpPr>
          <p:cNvPr id="372" name="Text 37"/>
          <p:cNvSpPr txBox="1"/>
          <p:nvPr/>
        </p:nvSpPr>
        <p:spPr>
          <a:xfrm>
            <a:off x="8366759" y="3334434"/>
            <a:ext cx="32004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B97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Limitations</a:t>
            </a:r>
          </a:p>
        </p:txBody>
      </p:sp>
      <p:sp>
        <p:nvSpPr>
          <p:cNvPr id="373" name="Text 38"/>
          <p:cNvSpPr txBox="1"/>
          <p:nvPr/>
        </p:nvSpPr>
        <p:spPr>
          <a:xfrm>
            <a:off x="8366759" y="3612386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D8DE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– Prediction overhead</a:t>
            </a:r>
          </a:p>
        </p:txBody>
      </p:sp>
      <p:sp>
        <p:nvSpPr>
          <p:cNvPr id="374" name="Text 39"/>
          <p:cNvSpPr txBox="1"/>
          <p:nvPr/>
        </p:nvSpPr>
        <p:spPr>
          <a:xfrm>
            <a:off x="8366759" y="3868418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D8DE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– Workload dependency</a:t>
            </a:r>
          </a:p>
        </p:txBody>
      </p:sp>
      <p:sp>
        <p:nvSpPr>
          <p:cNvPr id="375" name="Text 40"/>
          <p:cNvSpPr txBox="1"/>
          <p:nvPr/>
        </p:nvSpPr>
        <p:spPr>
          <a:xfrm>
            <a:off x="8366759" y="4124450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D8DE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– Random workloads harder to predict</a:t>
            </a:r>
          </a:p>
        </p:txBody>
      </p:sp>
      <p:sp>
        <p:nvSpPr>
          <p:cNvPr id="376" name="Text 41"/>
          <p:cNvSpPr txBox="1"/>
          <p:nvPr/>
        </p:nvSpPr>
        <p:spPr>
          <a:xfrm>
            <a:off x="8366759" y="4380483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D8DE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– User-space prototype</a:t>
            </a:r>
          </a:p>
        </p:txBody>
      </p:sp>
      <p:sp>
        <p:nvSpPr>
          <p:cNvPr id="377" name="Text 42"/>
          <p:cNvSpPr txBox="1"/>
          <p:nvPr/>
        </p:nvSpPr>
        <p:spPr>
          <a:xfrm>
            <a:off x="8366759" y="4636515"/>
            <a:ext cx="32004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D8DE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– Kernel integration is future work</a:t>
            </a:r>
          </a:p>
        </p:txBody>
      </p:sp>
      <p:sp>
        <p:nvSpPr>
          <p:cNvPr id="378" name="Text 43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379" name="Text 44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47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09 /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9692640" y="-1463040"/>
            <a:ext cx="4754887" cy="47548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2" name="Shape 1"/>
          <p:cNvSpPr/>
          <p:nvPr/>
        </p:nvSpPr>
        <p:spPr>
          <a:xfrm>
            <a:off x="-1645923" y="5120640"/>
            <a:ext cx="4206246" cy="4206247"/>
          </a:xfrm>
          <a:prstGeom prst="ellipse">
            <a:avLst/>
          </a:prstGeom>
          <a:solidFill>
            <a:srgbClr val="6C4AB6">
              <a:alpha val="18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3" name="Text 2"/>
          <p:cNvSpPr txBox="1"/>
          <p:nvPr/>
        </p:nvSpPr>
        <p:spPr>
          <a:xfrm>
            <a:off x="548638" y="387909"/>
            <a:ext cx="5486406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FD3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REVIEW-4  TEAM-8</a:t>
            </a:r>
          </a:p>
        </p:txBody>
      </p:sp>
      <p:sp>
        <p:nvSpPr>
          <p:cNvPr id="384" name="Text 3"/>
          <p:cNvSpPr txBox="1"/>
          <p:nvPr/>
        </p:nvSpPr>
        <p:spPr>
          <a:xfrm>
            <a:off x="502919" y="662938"/>
            <a:ext cx="109728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Conclusion &amp; Future Work</a:t>
            </a:r>
          </a:p>
        </p:txBody>
      </p:sp>
      <p:sp>
        <p:nvSpPr>
          <p:cNvPr id="385" name="Text 4"/>
          <p:cNvSpPr txBox="1"/>
          <p:nvPr/>
        </p:nvSpPr>
        <p:spPr>
          <a:xfrm>
            <a:off x="548638" y="1368359"/>
            <a:ext cx="11064245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C9DCE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AIPage integrates Linux telemetry, page-access history, lightweight reuse-aware prediction and AI-assisted page replacement into a single OSSP research prototype.</a:t>
            </a:r>
          </a:p>
        </p:txBody>
      </p:sp>
      <p:sp>
        <p:nvSpPr>
          <p:cNvPr id="386" name="Shape 5"/>
          <p:cNvSpPr/>
          <p:nvPr/>
        </p:nvSpPr>
        <p:spPr>
          <a:xfrm>
            <a:off x="548640" y="2057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324F"/>
          </a:solidFill>
          <a:ln w="12700">
            <a:solidFill>
              <a:srgbClr val="23486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7" name="Text 6"/>
          <p:cNvSpPr txBox="1"/>
          <p:nvPr/>
        </p:nvSpPr>
        <p:spPr>
          <a:xfrm>
            <a:off x="777238" y="2280716"/>
            <a:ext cx="3154686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200">
                <a:solidFill>
                  <a:srgbClr val="E4F1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REAL MONITORING</a:t>
            </a:r>
          </a:p>
        </p:txBody>
      </p:sp>
      <p:sp>
        <p:nvSpPr>
          <p:cNvPr id="388" name="Text 7"/>
          <p:cNvSpPr txBox="1"/>
          <p:nvPr/>
        </p:nvSpPr>
        <p:spPr>
          <a:xfrm>
            <a:off x="777238" y="2542032"/>
            <a:ext cx="3154686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Linux /proc</a:t>
            </a:r>
          </a:p>
        </p:txBody>
      </p:sp>
      <p:sp>
        <p:nvSpPr>
          <p:cNvPr id="389" name="Shape 8"/>
          <p:cNvSpPr/>
          <p:nvPr/>
        </p:nvSpPr>
        <p:spPr>
          <a:xfrm>
            <a:off x="4343400" y="2057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6324F"/>
          </a:solidFill>
          <a:ln w="12700">
            <a:solidFill>
              <a:srgbClr val="23486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0" name="Text 9"/>
          <p:cNvSpPr txBox="1"/>
          <p:nvPr/>
        </p:nvSpPr>
        <p:spPr>
          <a:xfrm>
            <a:off x="4571998" y="2280716"/>
            <a:ext cx="315468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200">
                <a:solidFill>
                  <a:srgbClr val="E4F1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INTELLIGENT PREDICTION</a:t>
            </a:r>
          </a:p>
        </p:txBody>
      </p:sp>
      <p:sp>
        <p:nvSpPr>
          <p:cNvPr id="391" name="Text 10"/>
          <p:cNvSpPr txBox="1"/>
          <p:nvPr/>
        </p:nvSpPr>
        <p:spPr>
          <a:xfrm>
            <a:off x="4571998" y="2542032"/>
            <a:ext cx="31546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 reuse features</a:t>
            </a:r>
          </a:p>
        </p:txBody>
      </p:sp>
      <p:sp>
        <p:nvSpPr>
          <p:cNvPr id="392" name="Shape 11"/>
          <p:cNvSpPr/>
          <p:nvPr/>
        </p:nvSpPr>
        <p:spPr>
          <a:xfrm>
            <a:off x="8138159" y="2057400"/>
            <a:ext cx="3611882" cy="1417320"/>
          </a:xfrm>
          <a:prstGeom prst="roundRect">
            <a:avLst>
              <a:gd name="adj" fmla="val 5806"/>
            </a:avLst>
          </a:prstGeom>
          <a:solidFill>
            <a:srgbClr val="16324F"/>
          </a:solidFill>
          <a:ln w="12700">
            <a:solidFill>
              <a:srgbClr val="23486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3" name="Text 12"/>
          <p:cNvSpPr txBox="1"/>
          <p:nvPr/>
        </p:nvSpPr>
        <p:spPr>
          <a:xfrm>
            <a:off x="8366759" y="2280716"/>
            <a:ext cx="315468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200">
                <a:solidFill>
                  <a:srgbClr val="E4F1F5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MEASURED EVALUATION</a:t>
            </a:r>
          </a:p>
        </p:txBody>
      </p:sp>
      <p:sp>
        <p:nvSpPr>
          <p:cNvPr id="394" name="Text 13"/>
          <p:cNvSpPr txBox="1"/>
          <p:nvPr/>
        </p:nvSpPr>
        <p:spPr>
          <a:xfrm>
            <a:off x="8366759" y="2542032"/>
            <a:ext cx="315468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28.10% hit rate on tested real-memory trace</a:t>
            </a:r>
          </a:p>
        </p:txBody>
      </p:sp>
      <p:sp>
        <p:nvSpPr>
          <p:cNvPr id="395" name="Shape 14"/>
          <p:cNvSpPr/>
          <p:nvPr/>
        </p:nvSpPr>
        <p:spPr>
          <a:xfrm>
            <a:off x="548640" y="3703320"/>
            <a:ext cx="11064241" cy="1965964"/>
          </a:xfrm>
          <a:prstGeom prst="roundRect">
            <a:avLst>
              <a:gd name="adj" fmla="val 4186"/>
            </a:avLst>
          </a:prstGeom>
          <a:solidFill>
            <a:srgbClr val="16324F"/>
          </a:solidFill>
          <a:ln w="12700">
            <a:solidFill>
              <a:srgbClr val="23486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6" name="Text 15"/>
          <p:cNvSpPr txBox="1"/>
          <p:nvPr/>
        </p:nvSpPr>
        <p:spPr>
          <a:xfrm>
            <a:off x="822957" y="3910505"/>
            <a:ext cx="457200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100">
                <a:solidFill>
                  <a:srgbClr val="8FD3E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FUTURE WORK</a:t>
            </a:r>
          </a:p>
        </p:txBody>
      </p:sp>
      <p:sp>
        <p:nvSpPr>
          <p:cNvPr id="397" name="Text 16"/>
          <p:cNvSpPr txBox="1"/>
          <p:nvPr/>
        </p:nvSpPr>
        <p:spPr>
          <a:xfrm>
            <a:off x="822957" y="4284295"/>
            <a:ext cx="5120647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 Kernel-level integration</a:t>
            </a:r>
          </a:p>
        </p:txBody>
      </p:sp>
      <p:sp>
        <p:nvSpPr>
          <p:cNvPr id="398" name="Text 17"/>
          <p:cNvSpPr txBox="1"/>
          <p:nvPr/>
        </p:nvSpPr>
        <p:spPr>
          <a:xfrm>
            <a:off x="6217919" y="4284295"/>
            <a:ext cx="5120645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 Larger real-memory traces</a:t>
            </a:r>
          </a:p>
        </p:txBody>
      </p:sp>
      <p:sp>
        <p:nvSpPr>
          <p:cNvPr id="399" name="Text 18"/>
          <p:cNvSpPr txBox="1"/>
          <p:nvPr/>
        </p:nvSpPr>
        <p:spPr>
          <a:xfrm>
            <a:off x="822957" y="4723207"/>
            <a:ext cx="5120647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 Online / adaptive learning</a:t>
            </a:r>
          </a:p>
        </p:txBody>
      </p:sp>
      <p:sp>
        <p:nvSpPr>
          <p:cNvPr id="400" name="Text 19"/>
          <p:cNvSpPr txBox="1"/>
          <p:nvPr/>
        </p:nvSpPr>
        <p:spPr>
          <a:xfrm>
            <a:off x="6217919" y="4723207"/>
            <a:ext cx="5120645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 Advanced prediction models</a:t>
            </a:r>
          </a:p>
        </p:txBody>
      </p:sp>
      <p:sp>
        <p:nvSpPr>
          <p:cNvPr id="401" name="Text 20"/>
          <p:cNvSpPr txBox="1"/>
          <p:nvPr/>
        </p:nvSpPr>
        <p:spPr>
          <a:xfrm>
            <a:off x="822957" y="5162119"/>
            <a:ext cx="5120647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 Hardware-assisted telemetry</a:t>
            </a:r>
          </a:p>
        </p:txBody>
      </p:sp>
      <p:sp>
        <p:nvSpPr>
          <p:cNvPr id="402" name="Text 21"/>
          <p:cNvSpPr txBox="1"/>
          <p:nvPr/>
        </p:nvSpPr>
        <p:spPr>
          <a:xfrm>
            <a:off x="6217919" y="5162119"/>
            <a:ext cx="5120645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▸  More diverse workloads</a:t>
            </a:r>
          </a:p>
        </p:txBody>
      </p:sp>
      <p:sp>
        <p:nvSpPr>
          <p:cNvPr id="403" name="Text 22"/>
          <p:cNvSpPr txBox="1"/>
          <p:nvPr/>
        </p:nvSpPr>
        <p:spPr>
          <a:xfrm>
            <a:off x="548638" y="6049009"/>
            <a:ext cx="1106424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E4F1F5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Learn  →  Predict  →  Manage Proactively</a:t>
            </a:r>
          </a:p>
        </p:txBody>
      </p:sp>
      <p:sp>
        <p:nvSpPr>
          <p:cNvPr id="404" name="Text 23"/>
          <p:cNvSpPr txBox="1"/>
          <p:nvPr/>
        </p:nvSpPr>
        <p:spPr>
          <a:xfrm>
            <a:off x="457200" y="6547611"/>
            <a:ext cx="7772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FB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Team-8  |  AIPage: AI-Assisted Page Prediction &amp; Virtual Memory Management</a:t>
            </a:r>
          </a:p>
        </p:txBody>
      </p:sp>
      <p:sp>
        <p:nvSpPr>
          <p:cNvPr id="405" name="Text 24"/>
          <p:cNvSpPr txBox="1"/>
          <p:nvPr/>
        </p:nvSpPr>
        <p:spPr>
          <a:xfrm>
            <a:off x="11000230" y="6547611"/>
            <a:ext cx="7315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FB4C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 / 10</a:t>
            </a:r>
          </a:p>
        </p:txBody>
      </p:sp>
      <p:sp>
        <p:nvSpPr>
          <p:cNvPr id="406" name="THANK-YOU"/>
          <p:cNvSpPr txBox="1"/>
          <p:nvPr/>
        </p:nvSpPr>
        <p:spPr>
          <a:xfrm>
            <a:off x="9265105" y="6049009"/>
            <a:ext cx="2271795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THANK-YOU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